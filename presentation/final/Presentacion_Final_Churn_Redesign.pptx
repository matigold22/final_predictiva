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1C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0" cy="27432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50" b="1">
                <a:solidFill>
                  <a:srgbClr val="92C4FF"/>
                </a:solidFill>
              </a:defRPr>
            </a:pPr>
            <a:r>
              <a:t>ANALISIS PREDICTIVO · EXAMEN 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6217920" cy="86868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3100" b="1">
                <a:solidFill>
                  <a:srgbClr val="FFFFFF"/>
                </a:solidFill>
              </a:defRPr>
            </a:pPr>
            <a:r>
              <a:t>Prediccion de churn en clientes Telco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920240"/>
            <a:ext cx="6217920" cy="32004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1300" b="0">
                <a:solidFill>
                  <a:srgbClr val="CDD7E6"/>
                </a:solidFill>
              </a:defRPr>
            </a:pPr>
            <a:r>
              <a:t>Modelo final CatBoost · seleccion por PR-AUC · umbral optimizado por F2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24612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3246120"/>
            <a:ext cx="1554480" cy="73152"/>
          </a:xfrm>
          <a:prstGeom prst="rect">
            <a:avLst/>
          </a:prstGeom>
          <a:solidFill>
            <a:srgbClr val="E7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392424"/>
            <a:ext cx="128016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CHURN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30168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26.5%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32504"/>
            <a:ext cx="128016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tasa observada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324612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514600" y="3246120"/>
            <a:ext cx="1554480" cy="73152"/>
          </a:xfrm>
          <a:prstGeom prst="rect">
            <a:avLst/>
          </a:prstGeom>
          <a:solidFill>
            <a:srgbClr val="22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3392424"/>
            <a:ext cx="128016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3630168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7.043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4032504"/>
            <a:ext cx="128016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dataset IBM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324612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3246120"/>
            <a:ext cx="155448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392424"/>
            <a:ext cx="128016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PR-AUC 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630168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0.664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032504"/>
            <a:ext cx="128016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modelo final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246120"/>
            <a:ext cx="155448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246120"/>
            <a:ext cx="155448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3392424"/>
            <a:ext cx="128016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RECALL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30168"/>
            <a:ext cx="128016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90.9%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032504"/>
            <a:ext cx="128016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umbral 0.31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1 · CASO DE NEGOCIO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Priorizar retencion antes de que ocurra la baja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47548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161C27"/>
                </a:solidFill>
              </a:defRPr>
            </a:pPr>
            <a:r>
              <a:t>Objetivo: estimar riesgo de churn por cliente activo.</a:t>
            </a:r>
          </a:p>
          <a:p>
            <a:pPr>
              <a:spcAft>
                <a:spcPts val="500"/>
              </a:spcAft>
              <a:defRPr sz="1400">
                <a:solidFill>
                  <a:srgbClr val="161C27"/>
                </a:solidFill>
              </a:defRPr>
            </a:pPr>
            <a:r>
              <a:t>Decision: ordenar la cartera para acciones de retencion.</a:t>
            </a:r>
          </a:p>
          <a:p>
            <a:pPr>
              <a:spcAft>
                <a:spcPts val="500"/>
              </a:spcAft>
              <a:defRPr sz="1400">
                <a:solidFill>
                  <a:srgbClr val="161C27"/>
                </a:solidFill>
              </a:defRPr>
            </a:pPr>
            <a:r>
              <a:t>Valor: usar datos de contrato, servicios y facturacion para llegar antes.</a:t>
            </a:r>
          </a:p>
          <a:p>
            <a:pPr>
              <a:spcAft>
                <a:spcPts val="500"/>
              </a:spcAft>
              <a:defRPr sz="1400">
                <a:solidFill>
                  <a:srgbClr val="161C27"/>
                </a:solidFill>
              </a:defRPr>
            </a:pPr>
            <a:r>
              <a:t>Trade-off: priorizamos recall, pero monitoreamos precision para no sobreactuar.</a:t>
            </a:r>
          </a:p>
        </p:txBody>
      </p:sp>
      <p:sp>
        <p:nvSpPr>
          <p:cNvPr id="8" name="Rectangle 7"/>
          <p:cNvSpPr/>
          <p:nvPr/>
        </p:nvSpPr>
        <p:spPr>
          <a:xfrm>
            <a:off x="5806440" y="1325880"/>
            <a:ext cx="2377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06440" y="1325880"/>
            <a:ext cx="237744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1472184"/>
            <a:ext cx="21031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SALIDA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709928"/>
            <a:ext cx="21031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2112264"/>
            <a:ext cx="210312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probabilidad de churn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06440" y="2423160"/>
            <a:ext cx="2377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06440" y="2423160"/>
            <a:ext cx="237744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2569464"/>
            <a:ext cx="21031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USO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807208"/>
            <a:ext cx="21031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09544"/>
            <a:ext cx="210312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agenda de retencion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520440"/>
            <a:ext cx="237744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806440" y="3520440"/>
            <a:ext cx="2377440" cy="73152"/>
          </a:xfrm>
          <a:prstGeom prst="rect">
            <a:avLst/>
          </a:prstGeom>
          <a:solidFill>
            <a:srgbClr val="C84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3666744"/>
            <a:ext cx="21031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RIESGO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904488"/>
            <a:ext cx="21031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falsos 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0" y="4306824"/>
            <a:ext cx="210312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costo comercial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2 · 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7.043 clientes, 21 variables y una clase positiva minoritaria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645920" cy="73152"/>
          </a:xfrm>
          <a:prstGeom prst="rect">
            <a:avLst/>
          </a:prstGeom>
          <a:solidFill>
            <a:srgbClr val="E7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074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1848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Churn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137160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Yes / No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2344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1234440"/>
            <a:ext cx="1645920" cy="73152"/>
          </a:xfrm>
          <a:prstGeom prst="rect">
            <a:avLst/>
          </a:prstGeom>
          <a:solidFill>
            <a:srgbClr val="C84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38074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POSITIVOS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61848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26.5%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20824"/>
            <a:ext cx="137160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churn real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234440"/>
            <a:ext cx="192024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234440"/>
            <a:ext cx="1920240" cy="73152"/>
          </a:xfrm>
          <a:prstGeom prst="rect">
            <a:avLst/>
          </a:prstGeom>
          <a:solidFill>
            <a:srgbClr val="22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380744"/>
            <a:ext cx="16459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LIMPIEZA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618488"/>
            <a:ext cx="16459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20824"/>
            <a:ext cx="164592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TotalCharges vacio, tenure=0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629400" y="1234440"/>
            <a:ext cx="1828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629400" y="1234440"/>
            <a:ext cx="182880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380744"/>
            <a:ext cx="15544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FEATURES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161848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originales + FE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66560" y="2020824"/>
            <a:ext cx="155448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sin target encoding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2697480"/>
            <a:ext cx="7772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Variables demograficas: genero, senior, pareja, dependientes.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Servicios: internet, seguridad, soporte, backup, streaming.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Contrato/facturacion: tenure, tipo de contrato, metodo de pago, cargos.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Limitacion estructural: no hay fecha de corte ni historial temporal.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3 ·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La tasa de churn cambia mucho segun contrato, servicio y soporte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04</a:t>
            </a:r>
          </a:p>
        </p:txBody>
      </p:sp>
      <p:pic>
        <p:nvPicPr>
          <p:cNvPr id="7" name="Picture 6" descr="eda_churn_rate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8183879" cy="441986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3 ·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El patron principal: clientes nuevos y poco anclados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05</a:t>
            </a:r>
          </a:p>
        </p:txBody>
      </p:sp>
      <p:pic>
        <p:nvPicPr>
          <p:cNvPr id="7" name="Picture 6" descr="eda_target_ten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4572000" cy="18385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532120" y="1417320"/>
            <a:ext cx="2971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Contrato mensual y baja antiguedad concentran mayor riesgo.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Fibra optica aparece como señal predictiva relevante.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Servicios de soporte/seguridad reducen riesgo observado.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Estas relaciones son asociaciones predictivas, no causalidad.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4 · EVALUACION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PR-AUC para elegir modelo; F2 para elegir umbral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12344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34440"/>
            <a:ext cx="164592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38074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61848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5.634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20824"/>
            <a:ext cx="137160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80%, estratificado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14600" y="12344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1234440"/>
            <a:ext cx="1645920" cy="73152"/>
          </a:xfrm>
          <a:prstGeom prst="rect">
            <a:avLst/>
          </a:prstGeom>
          <a:solidFill>
            <a:srgbClr val="22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51760" y="138074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161848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1.409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51760" y="2020824"/>
            <a:ext cx="137160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20%, cerrado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34840" y="12344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34840" y="1234440"/>
            <a:ext cx="164592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38074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CV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61848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3 folds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020824"/>
            <a:ext cx="137160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solo train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5080" y="1234440"/>
            <a:ext cx="164592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55080" y="1234440"/>
            <a:ext cx="1645920" cy="73152"/>
          </a:xfrm>
          <a:prstGeom prst="rect">
            <a:avLst/>
          </a:prstGeom>
          <a:solidFill>
            <a:srgbClr val="C84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92240" y="1380744"/>
            <a:ext cx="13716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NO SKILL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1618488"/>
            <a:ext cx="13716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0.265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0" y="2020824"/>
            <a:ext cx="137160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PR-AUC 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274320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PR-AUC mide la calidad del ranking en una clase positiva minoritaria.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F2 prioriza recall para el punto operativo, sin ignorar precision.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El test no se usa para tuning, seleccion de modelo ni seleccion de umbral.</a:t>
            </a:r>
          </a:p>
          <a:p>
            <a:pPr>
              <a:spcAft>
                <a:spcPts val="500"/>
              </a:spcAft>
              <a:defRPr sz="1250">
                <a:solidFill>
                  <a:srgbClr val="161C27"/>
                </a:solidFill>
              </a:defRPr>
            </a:pPr>
            <a:r>
              <a:t>Pipeline: imputacion, escalado y one-hot se ajustan dentro de cada fold.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5 · BASELINE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La regresion logistica deja una vara alta e interpretable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07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325880"/>
            <a:ext cx="1828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325880"/>
            <a:ext cx="1828800" cy="73152"/>
          </a:xfrm>
          <a:prstGeom prst="rect">
            <a:avLst/>
          </a:prstGeom>
          <a:solidFill>
            <a:srgbClr val="C84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472184"/>
            <a:ext cx="15544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DUMMY 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70992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0.265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12264"/>
            <a:ext cx="155448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sin informacion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1325880"/>
            <a:ext cx="1828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34640" y="1325880"/>
            <a:ext cx="182880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472184"/>
            <a:ext cx="15544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LOGISTIC PR-AUC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170992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0.663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112264"/>
            <a:ext cx="155448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baseline fuerte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37760" y="1325880"/>
            <a:ext cx="1828800" cy="91440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37760" y="1325880"/>
            <a:ext cx="182880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74920" y="1472184"/>
            <a:ext cx="15544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LOGISTIC F2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1709928"/>
            <a:ext cx="15544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0.718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2112264"/>
            <a:ext cx="1554480" cy="9143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recall alto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2788920"/>
            <a:ext cx="722376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La logistica queda cerca de CatBoost: el problema tiene señal lineal fuerte.</a:t>
            </a:r>
          </a:p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Se usa como baseline interpretable para exigir que modelos complejos justifiquen su mejora.</a:t>
            </a:r>
          </a:p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El dummy confirma que accuracy no alcanza: predecir siempre No Churn no sirve para retener.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6 · SELECCION DE MODELOS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10 pruebas comparadas por PR-AUC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08</a:t>
            </a:r>
          </a:p>
        </p:txBody>
      </p:sp>
      <p:pic>
        <p:nvPicPr>
          <p:cNvPr id="7" name="Picture 6" descr="modelos_10_prau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15568"/>
            <a:ext cx="5897880" cy="339840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629400" y="1325880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29400" y="1325880"/>
            <a:ext cx="2057400" cy="73152"/>
          </a:xfrm>
          <a:prstGeom prst="rect">
            <a:avLst/>
          </a:prstGeom>
          <a:solidFill>
            <a:srgbClr val="E7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472184"/>
            <a:ext cx="17830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catboost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1709928"/>
            <a:ext cx="17830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0.667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112264"/>
            <a:ext cx="1783080" cy="-10972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F2 0.731 · Precision 0.521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2194560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29400" y="2194560"/>
            <a:ext cx="205740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60" y="2340864"/>
            <a:ext cx="17830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gradient_boosting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578608"/>
            <a:ext cx="17830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0.665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66560" y="2980944"/>
            <a:ext cx="1783080" cy="-10972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F2 0.523 · Precision 0.681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29400" y="3063239"/>
            <a:ext cx="2057400" cy="713232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629400" y="3063239"/>
            <a:ext cx="205740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3209544"/>
            <a:ext cx="17830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logistic_regression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447287"/>
            <a:ext cx="17830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0.663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3849624"/>
            <a:ext cx="1783080" cy="-10972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F2 0.718 · Precision 0.520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931920"/>
            <a:ext cx="2057400" cy="64008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80" b="0">
                <a:solidFill>
                  <a:srgbClr val="5E6877"/>
                </a:solidFill>
              </a:defRPr>
            </a:pPr>
            <a:r>
              <a:t>CatBoost gana por poco. Logistic y Gradient Boosting quedan cerca, por eso se reporta el ranking completo y no solo el ganador.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7 · MODELO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CatBoost: mejor PR-AUC y umbral F2 = 0.31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09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1417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1417320" cy="73152"/>
          </a:xfrm>
          <a:prstGeom prst="rect">
            <a:avLst/>
          </a:prstGeom>
          <a:solidFill>
            <a:srgbClr val="E7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380744"/>
            <a:ext cx="11430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PR-AUC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618488"/>
            <a:ext cx="11430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0.664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020824"/>
            <a:ext cx="114300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test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48840" y="1234440"/>
            <a:ext cx="1417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48840" y="1234440"/>
            <a:ext cx="141732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286000" y="1380744"/>
            <a:ext cx="11430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1618488"/>
            <a:ext cx="11430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0.845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020824"/>
            <a:ext cx="114300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1234440"/>
            <a:ext cx="1417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1234440"/>
            <a:ext cx="141732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86200" y="1380744"/>
            <a:ext cx="11430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Recall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1618488"/>
            <a:ext cx="11430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90.9%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2020824"/>
            <a:ext cx="114300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detecta churn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1234440"/>
            <a:ext cx="1417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49240" y="1234440"/>
            <a:ext cx="1417320" cy="73152"/>
          </a:xfrm>
          <a:prstGeom prst="rect">
            <a:avLst/>
          </a:prstGeom>
          <a:solidFill>
            <a:srgbClr val="C84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0" y="1380744"/>
            <a:ext cx="11430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Precision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1618488"/>
            <a:ext cx="11430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42.4%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2020824"/>
            <a:ext cx="114300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contactos utiles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0" y="1234440"/>
            <a:ext cx="1417320" cy="86868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949440" y="1234440"/>
            <a:ext cx="1417320" cy="73152"/>
          </a:xfrm>
          <a:prstGeom prst="rect">
            <a:avLst/>
          </a:prstGeom>
          <a:solidFill>
            <a:srgbClr val="2297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86600" y="1380744"/>
            <a:ext cx="114300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F2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86600" y="1618488"/>
            <a:ext cx="114300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0.740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2020824"/>
            <a:ext cx="1143000" cy="45719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umbral</a:t>
            </a:r>
          </a:p>
        </p:txBody>
      </p:sp>
      <p:pic>
        <p:nvPicPr>
          <p:cNvPr id="32" name="Picture 31" descr="threshold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14600"/>
            <a:ext cx="4754880" cy="2462404"/>
          </a:xfrm>
          <a:prstGeom prst="rect">
            <a:avLst/>
          </a:prstGeom>
        </p:spPr>
      </p:pic>
      <p:pic>
        <p:nvPicPr>
          <p:cNvPr id="33" name="Picture 32" descr="capture_cur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514600"/>
            <a:ext cx="3154680" cy="17197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7 · MODELO FINAL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Interpretacion: contrato, tenure y señales de servicio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10</a:t>
            </a:r>
          </a:p>
        </p:txBody>
      </p:sp>
      <p:pic>
        <p:nvPicPr>
          <p:cNvPr id="7" name="Picture 6" descr="importance_permut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43000"/>
            <a:ext cx="4251960" cy="2572392"/>
          </a:xfrm>
          <a:prstGeom prst="rect">
            <a:avLst/>
          </a:prstGeom>
        </p:spPr>
      </p:pic>
      <p:pic>
        <p:nvPicPr>
          <p:cNvPr id="8" name="Picture 7" descr="importance_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1143000"/>
            <a:ext cx="4160520" cy="251707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77240" y="4434840"/>
            <a:ext cx="7498079" cy="32004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 algn="ctr">
              <a:defRPr sz="1050" b="0">
                <a:solidFill>
                  <a:srgbClr val="5E6877"/>
                </a:solidFill>
              </a:defRPr>
            </a:pPr>
            <a:r>
              <a:t>Permutation importance esta alineada a F2; SHAP resume impacto global. No es causalidad: es señal predictiva para priorizar.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8 · LIMITACIONES / MEJORAS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La mayor mejora no es otro algoritmo: son datos y decision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589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No hay corte temporal real: validar con meses futuros seria la mejora metodologica mas importante.</a:t>
            </a:r>
          </a:p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Precision moderada: el umbral debe ajustarse con costos reales y capacidad comercial.</a:t>
            </a:r>
          </a:p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Variables redundantes: algunas originales y derivadas comparten informacion.</a:t>
            </a:r>
          </a:p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Agregar reclamos, uso real, tickets, promociones, cambios de plan y satisfaccion.</a:t>
            </a:r>
          </a:p>
          <a:p>
            <a:pPr>
              <a:spcAft>
                <a:spcPts val="500"/>
              </a:spcAft>
              <a:defRPr sz="1300">
                <a:solidFill>
                  <a:srgbClr val="161C27"/>
                </a:solidFill>
              </a:defRPr>
            </a:pPr>
            <a:r>
              <a:t>Uplift modeling: contactar clientes persuadibles, no solo clientes con alto riesgo.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3886200"/>
            <a:ext cx="2286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3886200"/>
            <a:ext cx="228600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032504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LEAKAGE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270248"/>
            <a:ext cx="20116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sin señal grave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672584"/>
            <a:ext cx="2011680" cy="-4572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ID fuera, target fuera, pipeline por fold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29000" y="3886200"/>
            <a:ext cx="2286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429000" y="3886200"/>
            <a:ext cx="228600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4032504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OVERFIT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4270248"/>
            <a:ext cx="20116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controlado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4672584"/>
            <a:ext cx="2011680" cy="-4572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gap F2 bajo/moderado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35040" y="3886200"/>
            <a:ext cx="2286000" cy="77724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035040" y="3886200"/>
            <a:ext cx="2286000" cy="73152"/>
          </a:xfrm>
          <a:prstGeom prst="rect">
            <a:avLst/>
          </a:prstGeom>
          <a:solidFill>
            <a:srgbClr val="E7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4032504"/>
            <a:ext cx="201168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PROXIMO PASO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4270248"/>
            <a:ext cx="201168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costos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4672584"/>
            <a:ext cx="2011680" cy="-4572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umbral por valor esperado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219456"/>
            <a:ext cx="2834640" cy="25603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50" b="1">
                <a:solidFill>
                  <a:srgbClr val="2356C2"/>
                </a:solidFill>
              </a:defRPr>
            </a:pPr>
            <a:r>
              <a:t>9 ·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" y="475488"/>
            <a:ext cx="8138160" cy="5943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300" b="1">
                <a:solidFill>
                  <a:srgbClr val="161C27"/>
                </a:solidFill>
              </a:defRPr>
            </a:pPr>
            <a:r>
              <a:t>Un ranking accionable para retencion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" y="4828032"/>
            <a:ext cx="4114800" cy="164592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750" b="0">
                <a:solidFill>
                  <a:srgbClr val="5E6877"/>
                </a:solidFill>
              </a:defRPr>
            </a:pPr>
            <a:r>
              <a:t>Churn Telco · Examen Final · 12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21488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234440"/>
            <a:ext cx="2148840" cy="73152"/>
          </a:xfrm>
          <a:prstGeom prst="rect">
            <a:avLst/>
          </a:prstGeom>
          <a:solidFill>
            <a:srgbClr val="2356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380744"/>
            <a:ext cx="18745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METODO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618488"/>
            <a:ext cx="18745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PR-AUC + F2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20824"/>
            <a:ext cx="1874520" cy="1371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ranking y decision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234440"/>
            <a:ext cx="21488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08960" y="1234440"/>
            <a:ext cx="2148840" cy="73152"/>
          </a:xfrm>
          <a:prstGeom prst="rect">
            <a:avLst/>
          </a:prstGeom>
          <a:solidFill>
            <a:srgbClr val="E77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380744"/>
            <a:ext cx="18745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MODELO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1618488"/>
            <a:ext cx="18745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CatBoost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2020824"/>
            <a:ext cx="1874520" cy="1371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mejor CV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32120" y="1234440"/>
            <a:ext cx="21488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32120" y="1234440"/>
            <a:ext cx="2148840" cy="73152"/>
          </a:xfrm>
          <a:prstGeom prst="rect">
            <a:avLst/>
          </a:prstGeom>
          <a:solidFill>
            <a:srgbClr val="3C9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0" y="1380744"/>
            <a:ext cx="1874520" cy="20116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819" b="1">
                <a:solidFill>
                  <a:srgbClr val="5E6877"/>
                </a:solidFill>
              </a:defRPr>
            </a:pPr>
            <a:r>
              <a:t>NEGOCIO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618488"/>
            <a:ext cx="1874520" cy="384048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2000" b="1">
                <a:solidFill>
                  <a:srgbClr val="161C27"/>
                </a:solidFill>
              </a:defRPr>
            </a:pPr>
            <a:r>
              <a:t>priorizar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020824"/>
            <a:ext cx="1874520" cy="137160"/>
          </a:xfrm>
          <a:prstGeom prst="rect">
            <a:avLst/>
          </a:prstGeom>
          <a:noFill/>
        </p:spPr>
        <p:txBody>
          <a:bodyPr wrap="square" lIns="27432" rIns="27432" tIns="9144">
            <a:spAutoFit/>
          </a:bodyPr>
          <a:lstStyle/>
          <a:p>
            <a:pPr>
              <a:defRPr sz="919" b="0">
                <a:solidFill>
                  <a:srgbClr val="5E6877"/>
                </a:solidFill>
              </a:defRPr>
            </a:pPr>
            <a:r>
              <a:t>agenda de retencion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2743200"/>
            <a:ext cx="74066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161C27"/>
                </a:solidFill>
              </a:defRPr>
            </a:pPr>
            <a:r>
              <a:t>El churn se concentra en perfiles con contrato mensual, baja antiguedad y menor anclaje de servicios.</a:t>
            </a:r>
          </a:p>
          <a:p>
            <a:pPr>
              <a:spcAft>
                <a:spcPts val="500"/>
              </a:spcAft>
              <a:defRPr sz="1350">
                <a:solidFill>
                  <a:srgbClr val="161C27"/>
                </a:solidFill>
              </a:defRPr>
            </a:pPr>
            <a:r>
              <a:t>CatBoost fue el mejor modelo por PR-AUC dentro de 10 pruebas comparables.</a:t>
            </a:r>
          </a:p>
          <a:p>
            <a:pPr>
              <a:spcAft>
                <a:spcPts val="500"/>
              </a:spcAft>
              <a:defRPr sz="1350">
                <a:solidFill>
                  <a:srgbClr val="161C27"/>
                </a:solidFill>
              </a:defRPr>
            </a:pPr>
            <a:r>
              <a:t>El umbral actual prioriza recall; debe calibrarse con costos y capacidad real.</a:t>
            </a:r>
          </a:p>
          <a:p>
            <a:pPr>
              <a:spcAft>
                <a:spcPts val="500"/>
              </a:spcAft>
              <a:defRPr sz="1350">
                <a:solidFill>
                  <a:srgbClr val="161C27"/>
                </a:solidFill>
              </a:defRPr>
            </a:pPr>
            <a:r>
              <a:t>El modelo es una herramienta de priorizacion, no una explicacion causal del abandono.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