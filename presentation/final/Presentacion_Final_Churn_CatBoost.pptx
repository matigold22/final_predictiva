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1">
                <a:solidFill>
                  <a:srgbClr val="27A6D6"/>
                </a:solidFill>
              </a:defRPr>
            </a:pPr>
            <a:r>
              <a:t>ANALISIS PREDICTIVO - EXAMEN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6126480" cy="8229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Prediccion de churn en una telco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8308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400" b="0">
                <a:solidFill>
                  <a:srgbClr val="CAD5E5"/>
                </a:solidFill>
              </a:defRPr>
            </a:pPr>
            <a:r>
              <a:t>Un modelo para priorizar clientes con riesgo de baja antes de que se vayan.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06324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73152" cy="868680"/>
          </a:xfrm>
          <a:prstGeom prst="rect">
            <a:avLst/>
          </a:prstGeom>
          <a:solidFill>
            <a:srgbClr val="E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172968"/>
            <a:ext cx="157276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410712"/>
            <a:ext cx="157276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26.5%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40480"/>
            <a:ext cx="1572768" cy="457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clase positiva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306324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3063240"/>
            <a:ext cx="73152" cy="868680"/>
          </a:xfrm>
          <a:prstGeom prst="rect">
            <a:avLst/>
          </a:prstGeom>
          <a:solidFill>
            <a:srgbClr val="27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3172968"/>
            <a:ext cx="157276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3410712"/>
            <a:ext cx="157276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7.043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3840480"/>
            <a:ext cx="1572768" cy="457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clientes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06324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3063240"/>
            <a:ext cx="73152" cy="86868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3172968"/>
            <a:ext cx="157276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MODELO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3410712"/>
            <a:ext cx="157276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CatBoost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840480"/>
            <a:ext cx="1572768" cy="457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PR-AUC + F2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594360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0">
                <a:solidFill>
                  <a:srgbClr val="CAD5E5"/>
                </a:solidFill>
              </a:defRPr>
            </a:pPr>
            <a:r>
              <a:t>Felipe Tamaki | ITBA · 2026 · IBM Telco Customer Churn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1 · CASO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Retener cuesta menos que adquirir: hay que llegar 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846320" cy="21031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Problema: identificar clientes con mayor probabilidad de baja.</a:t>
            </a:r>
          </a:p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Decision: priorizar acciones de retencion sobre una cartera limitada.</a:t>
            </a:r>
          </a:p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Valor: transformar datos contractuales, servicios y facturacion en un ranking accionable.</a:t>
            </a:r>
          </a:p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Trade-off: preferimos alto recall, pero controlando precision para no disparar campañas enormes.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325880"/>
            <a:ext cx="1508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77840" y="1325880"/>
            <a:ext cx="73152" cy="822960"/>
          </a:xfrm>
          <a:prstGeom prst="rect">
            <a:avLst/>
          </a:prstGeom>
          <a:solidFill>
            <a:srgbClr val="E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2431" y="1435607"/>
            <a:ext cx="125272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TASA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1" y="1673352"/>
            <a:ext cx="125272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26.5%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1325880"/>
            <a:ext cx="1325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325880"/>
            <a:ext cx="73152" cy="82296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1435607"/>
            <a:ext cx="106984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1673352"/>
            <a:ext cx="106984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7.043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42316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2423160"/>
            <a:ext cx="73152" cy="100584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2431" y="2532888"/>
            <a:ext cx="27614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OUTPUT DEL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1" y="2770632"/>
            <a:ext cx="2761487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score de riesgo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1" y="3200400"/>
            <a:ext cx="2761487" cy="1828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probabilidad de churn por cliente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3657600"/>
            <a:ext cx="3017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0" y="3657600"/>
            <a:ext cx="73152" cy="685800"/>
          </a:xfrm>
          <a:prstGeom prst="rect">
            <a:avLst/>
          </a:prstGeom>
          <a:solidFill>
            <a:srgbClr val="27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1" y="3767328"/>
            <a:ext cx="27614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1" y="4005072"/>
            <a:ext cx="2761487" cy="-1371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ordenar cartera y decidir a quien contactar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1 · CASO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Flujo operativo: del dato mensual a la agenda de retencion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691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155448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43560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Base activa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1"/>
            <a:ext cx="143560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1435608" cy="7315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contrato, antiguedad, servicios, facturacion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039112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400" b="1">
                <a:solidFill>
                  <a:srgbClr val="5C6779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508760"/>
            <a:ext cx="1691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1508760"/>
            <a:ext cx="73152" cy="155448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1618488"/>
            <a:ext cx="143560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1856231"/>
            <a:ext cx="143560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286000"/>
            <a:ext cx="1435608" cy="7315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score de churn para cada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039112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400" b="1">
                <a:solidFill>
                  <a:srgbClr val="5C6779"/>
                </a:solidFill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508760"/>
            <a:ext cx="1691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1508760"/>
            <a:ext cx="73152" cy="155448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1" y="1618488"/>
            <a:ext cx="143560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Umbral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1856231"/>
            <a:ext cx="143560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1" y="2286000"/>
            <a:ext cx="1435608" cy="7315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prioriza recall con F2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039112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400" b="1">
                <a:solidFill>
                  <a:srgbClr val="5C6779"/>
                </a:solidFill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508760"/>
            <a:ext cx="1691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20840" y="1508760"/>
            <a:ext cx="73152" cy="155448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1" y="1618488"/>
            <a:ext cx="143560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Accion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1" y="1856231"/>
            <a:ext cx="143560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1" y="2286000"/>
            <a:ext cx="1435608" cy="7315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retencion, oferta o contacto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840480"/>
            <a:ext cx="7543800" cy="5029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 algn="ctr">
              <a:defRPr sz="1300" b="0">
                <a:solidFill>
                  <a:srgbClr val="5C6779"/>
                </a:solidFill>
              </a:defRPr>
            </a:pPr>
            <a:r>
              <a:t>La prediccion no reemplaza al negocio: entrega un ranking. El corte final deberia depender del costo de contactar, el valor del cliente y la efectividad esperada de la accion.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2 ·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IBM Telco Customer Churn: 7.043 clientes y 21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73152" cy="114300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08176"/>
            <a:ext cx="157276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DEMOGRAFICAS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157276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75688"/>
            <a:ext cx="1572768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genero, senior, pareja, dependientes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298448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298448"/>
            <a:ext cx="73152" cy="114300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1408176"/>
            <a:ext cx="157276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SERVICIOS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1645919"/>
            <a:ext cx="157276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075688"/>
            <a:ext cx="1572768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internet, seguridad, soporte, streaming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1298448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1298448"/>
            <a:ext cx="73152" cy="1143000"/>
          </a:xfrm>
          <a:prstGeom prst="rect">
            <a:avLst/>
          </a:prstGeom>
          <a:solidFill>
            <a:srgbClr val="E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1408176"/>
            <a:ext cx="157276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CONTRATO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1645919"/>
            <a:ext cx="157276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2075688"/>
            <a:ext cx="1572768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tenure, contract, payment, paperless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298448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1298448"/>
            <a:ext cx="73152" cy="1143000"/>
          </a:xfrm>
          <a:prstGeom prst="rect">
            <a:avLst/>
          </a:prstGeom>
          <a:solidFill>
            <a:srgbClr val="27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1408176"/>
            <a:ext cx="157276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FACTURACION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1645919"/>
            <a:ext cx="157276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2075688"/>
            <a:ext cx="1572768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MonthlyCharges, TotalCharges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816352"/>
            <a:ext cx="7772400" cy="13258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Unidad de analisis: un cliente.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Target: Churn = Yes/No.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Limpieza relevante: TotalCharges venia como texto; 11 clientes con tenure = 0 se imputan en 0.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Limitacion: foto de un mes, sin historia temporal de uso, reclamos ni satisfaccion.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3 · ANALISIS EXPLORATORIO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El churn no aparece al azar: contrato y antiguedad concentran señal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05</a:t>
            </a:r>
          </a:p>
        </p:txBody>
      </p:sp>
      <p:pic>
        <p:nvPicPr>
          <p:cNvPr id="6" name="Picture 5" descr="eda_target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4297680" cy="1509865"/>
          </a:xfrm>
          <a:prstGeom prst="rect">
            <a:avLst/>
          </a:prstGeom>
        </p:spPr>
      </p:pic>
      <p:pic>
        <p:nvPicPr>
          <p:cNvPr id="7" name="Picture 6" descr="eda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234440"/>
            <a:ext cx="4160520" cy="1187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434840"/>
            <a:ext cx="768096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 algn="ctr">
              <a:defRPr sz="1050" b="0">
                <a:solidFill>
                  <a:srgbClr val="5C6779"/>
                </a:solidFill>
              </a:defRPr>
            </a:pPr>
            <a:r>
              <a:t>Lectura: contrato mensual, baja antiguedad, fibra optica y ausencia de soporte son señales consistentes. No son causalidad: son patrones predictivos.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4 · EVALUACION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Con clases desbalanceadas, accuracy no alcanza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87451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051560"/>
          </a:xfrm>
          <a:prstGeom prst="rect">
            <a:avLst/>
          </a:prstGeom>
          <a:solidFill>
            <a:srgbClr val="D2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16184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NO SKILL PR-AUC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81912"/>
            <a:ext cx="1618487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0.265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1618487" cy="22859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igual a la prevalencia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234440"/>
            <a:ext cx="187451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80" y="1234440"/>
            <a:ext cx="73152" cy="105156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1344168"/>
            <a:ext cx="16184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1581912"/>
            <a:ext cx="1618487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5.634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2011680"/>
            <a:ext cx="1618487" cy="22859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80%, estratificado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1234440"/>
            <a:ext cx="187451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73152" cy="1051560"/>
          </a:xfrm>
          <a:prstGeom prst="rect">
            <a:avLst/>
          </a:prstGeom>
          <a:solidFill>
            <a:srgbClr val="27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1344168"/>
            <a:ext cx="16184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1581912"/>
            <a:ext cx="1618487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1.409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2011680"/>
            <a:ext cx="1618487" cy="22859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20%, cerrado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234440"/>
            <a:ext cx="1645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03720" y="1234440"/>
            <a:ext cx="73152" cy="105156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1344168"/>
            <a:ext cx="138988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SEED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1581912"/>
            <a:ext cx="138988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2011680"/>
            <a:ext cx="1389888" cy="22859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reproducible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43200"/>
            <a:ext cx="7863840" cy="12344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PR-AUC para seleccionar modelos: evalua ranking de churners y se enfoca en la clase positiva.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F2 para elegir umbral: prioriza recall sin ignorar precision.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Validacion cruzada estratificada de 3 folds sobre train para todos los modelos.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El test se usa una sola vez para evaluacion final.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5 · MODELO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Baseline: el piso minimo y una referencia interpretable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097280"/>
          </a:xfrm>
          <a:prstGeom prst="rect">
            <a:avLst/>
          </a:prstGeom>
          <a:solidFill>
            <a:srgbClr val="D2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170992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DUMMY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73352"/>
            <a:ext cx="170992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0.265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03120"/>
            <a:ext cx="1709928" cy="2743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PR-AUC = prevalencia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32588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325880"/>
            <a:ext cx="73152" cy="109728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435607"/>
            <a:ext cx="170992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LOGISTIC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1673352"/>
            <a:ext cx="170992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0.663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103120"/>
            <a:ext cx="1709928" cy="2743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PR-AUC 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32588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325880"/>
            <a:ext cx="73152" cy="109728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435607"/>
            <a:ext cx="170992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LOGISTIC F2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673352"/>
            <a:ext cx="170992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0.718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103120"/>
            <a:ext cx="1709928" cy="27431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muy competitivo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816352"/>
            <a:ext cx="7406640" cy="12344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La regresion logistica queda muy cerca del ganador: buena señal de que el problema tiene estructura clara.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Se mantiene como benchmark interpretable: si un modelo complejo gana por poco, debe justificar su complejidad.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El baseline tonto confirma por que accuracy no sirve: puede acertar muchos No Churn y no detectar ningun churner.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6 · SELECCION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CatBoost gana por PR-AUC, pero la carrera fue pareja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08</a:t>
            </a:r>
          </a:p>
        </p:txBody>
      </p:sp>
      <p:pic>
        <p:nvPicPr>
          <p:cNvPr id="6" name="Picture 5" descr="model_selection_pr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4663440" cy="229738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49240" y="1417320"/>
          <a:ext cx="3419856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30352"/>
                <a:gridCol w="438912"/>
                <a:gridCol w="530352"/>
                <a:gridCol w="640080"/>
              </a:tblGrid>
              <a:tr h="331470">
                <a:tc>
                  <a:txBody>
                    <a:bodyPr lIns="36576" rIns="36576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 anchor="ctr">
                    <a:solidFill>
                      <a:srgbClr val="2C5BBE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 anchor="ctr">
                    <a:solidFill>
                      <a:srgbClr val="2C5BBE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F2</a:t>
                      </a:r>
                    </a:p>
                  </a:txBody>
                  <a:tcPr anchor="ctr">
                    <a:solidFill>
                      <a:srgbClr val="2C5BBE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2C5BBE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2C5BBE"/>
                    </a:solidFill>
                  </a:tcPr>
                </a:tc>
              </a:tr>
              <a:tr h="331470">
                <a:tc>
                  <a:txBody>
                    <a:bodyPr lIns="36576" rIns="36576"/>
                    <a:lstStyle/>
                    <a:p>
                      <a:pPr algn="l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catboost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0.727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0.522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36576" rIns="36576"/>
                    <a:lstStyle/>
                    <a:p>
                      <a:pPr algn="l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gradient_boosting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0.665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0.523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0.495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36576" rIns="36576"/>
                    <a:lstStyle/>
                    <a:p>
                      <a:pPr algn="l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logistic_regression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0.663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800" b="0">
                          <a:solidFill>
                            <a:srgbClr val="1C2331"/>
                          </a:solidFill>
                        </a:defRPr>
                      </a:pPr>
                      <a:r>
                        <a:t>0.520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4960" y="3063240"/>
            <a:ext cx="3246120" cy="7772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150" b="0">
                <a:solidFill>
                  <a:srgbClr val="5C6779"/>
                </a:solidFill>
              </a:defRPr>
            </a:pPr>
            <a:r>
              <a:t>Top 3 separados por menos de 0,005 PR-AUC: CatBoost gana, pero Logistic sigue siendo un respaldo simple e interpretable.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6 · SELECCION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Tuning acotado: todos los modelos con CV y misma metrica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828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960120"/>
          </a:xfrm>
          <a:prstGeom prst="rect">
            <a:avLst/>
          </a:prstGeom>
          <a:solidFill>
            <a:srgbClr val="E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157276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73352"/>
            <a:ext cx="157276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CatBoost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03120"/>
            <a:ext cx="1572768" cy="1371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mejor PR-AUC 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32588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80" y="1325880"/>
            <a:ext cx="73152" cy="96012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1435607"/>
            <a:ext cx="97840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1673352"/>
            <a:ext cx="97840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32588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325880"/>
            <a:ext cx="73152" cy="96012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435607"/>
            <a:ext cx="125272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ITER.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1673352"/>
            <a:ext cx="125272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132588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97880" y="1325880"/>
            <a:ext cx="73152" cy="960120"/>
          </a:xfrm>
          <a:prstGeom prst="rect">
            <a:avLst/>
          </a:prstGeom>
          <a:solidFill>
            <a:srgbClr val="27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1435607"/>
            <a:ext cx="106984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LR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1673352"/>
            <a:ext cx="106984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0.05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1325880"/>
            <a:ext cx="1143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1325880"/>
            <a:ext cx="73152" cy="960120"/>
          </a:xfrm>
          <a:prstGeom prst="rect">
            <a:avLst/>
          </a:prstGeom>
          <a:solidFill>
            <a:srgbClr val="D2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1435607"/>
            <a:ext cx="88696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1673352"/>
            <a:ext cx="88696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743200"/>
            <a:ext cx="7543800" cy="13258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Se probaron modelos lineales, arboles, Random Forest, Gradient Boosting, LightGBM y CatBoost.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La busqueda fue acotada para mantener reproducibilidad y evitar tuning excesivo sobre una base chica.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LightGBM fue probado, pero quedo por debajo en PR-AUC CV.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CatBoost combina buen ranking con brecha train-test baja a moderada.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7 · MODELO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CatBoost en test: ranking fuerte y foco en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914400"/>
          </a:xfrm>
          <a:prstGeom prst="rect">
            <a:avLst/>
          </a:prstGeom>
          <a:solidFill>
            <a:srgbClr val="E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116128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PR-AUC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81912"/>
            <a:ext cx="116128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0.667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1161288" cy="9143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2344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0280" y="1234440"/>
            <a:ext cx="73152" cy="91440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344168"/>
            <a:ext cx="116128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1581912"/>
            <a:ext cx="116128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0.846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2011680"/>
            <a:ext cx="1161288" cy="9143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12344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86200" y="1234440"/>
            <a:ext cx="73152" cy="91440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0791" y="1344168"/>
            <a:ext cx="116128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1" y="1581912"/>
            <a:ext cx="116128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95.5%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2011680"/>
            <a:ext cx="1161288" cy="9143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churn detectado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2344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20" y="1234440"/>
            <a:ext cx="73152" cy="914400"/>
          </a:xfrm>
          <a:prstGeom prst="rect">
            <a:avLst/>
          </a:prstGeom>
          <a:solidFill>
            <a:srgbClr val="D2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6712" y="1344168"/>
            <a:ext cx="116128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6712" y="1581912"/>
            <a:ext cx="116128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39.7%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6712" y="2011680"/>
            <a:ext cx="1161288" cy="9143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contactos utiles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12344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78040" y="1234440"/>
            <a:ext cx="73152" cy="914400"/>
          </a:xfrm>
          <a:prstGeom prst="rect">
            <a:avLst/>
          </a:prstGeom>
          <a:solidFill>
            <a:srgbClr val="27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2631" y="1344168"/>
            <a:ext cx="116128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F2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1" y="1581912"/>
            <a:ext cx="116128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0.745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1" y="2011680"/>
            <a:ext cx="1161288" cy="9143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umbral 0.22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743200"/>
            <a:ext cx="7543800" cy="14173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1C2331"/>
                </a:solidFill>
              </a:defRPr>
            </a:pPr>
            <a:r>
              <a:t>El modelo final no se eligio por accuracy, sino por PR-AUC.</a:t>
            </a:r>
          </a:p>
          <a:p>
            <a:pPr>
              <a:spcAft>
                <a:spcPts val="500"/>
              </a:spcAft>
              <a:defRPr sz="1220">
                <a:solidFill>
                  <a:srgbClr val="1C2331"/>
                </a:solidFill>
              </a:defRPr>
            </a:pPr>
            <a:r>
              <a:t>El umbral 0.22 maximiza F2 en validacion interna: prioriza detectar churners.</a:t>
            </a:r>
          </a:p>
          <a:p>
            <a:pPr>
              <a:spcAft>
                <a:spcPts val="500"/>
              </a:spcAft>
              <a:defRPr sz="1220">
                <a:solidFill>
                  <a:srgbClr val="1C2331"/>
                </a:solidFill>
              </a:defRPr>
            </a:pPr>
            <a:r>
              <a:t>La precision queda baja: es un trade-off operativo consciente, no una metrica a esconder.</a:t>
            </a:r>
          </a:p>
          <a:p>
            <a:pPr>
              <a:spcAft>
                <a:spcPts val="500"/>
              </a:spcAft>
              <a:defRPr sz="1220">
                <a:solidFill>
                  <a:srgbClr val="1C2331"/>
                </a:solidFill>
              </a:defRPr>
            </a:pPr>
            <a:r>
              <a:t>El modelo marca como riesgo al 63.8% del test; requiere una estrategia de accion por capacidad/costos.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7 · MODELO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El umbral define la politica de accion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11</a:t>
            </a:r>
          </a:p>
        </p:txBody>
      </p:sp>
      <p:pic>
        <p:nvPicPr>
          <p:cNvPr id="6" name="Picture 5" descr="threshold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4800600" cy="22528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1325880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000" b="1">
                <a:solidFill>
                  <a:srgbClr val="1C2331"/>
                </a:solidFill>
              </a:defRPr>
            </a:pPr>
            <a:r>
              <a:t>Umbral elegido: 0.22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920240"/>
            <a:ext cx="2834640" cy="13258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331"/>
                </a:solidFill>
              </a:defRPr>
            </a:pPr>
            <a:r>
              <a:t>Umbral bajo =&gt; recall alto y mas falsos positivos.</a:t>
            </a:r>
          </a:p>
          <a:p>
            <a:pPr>
              <a:spcAft>
                <a:spcPts val="500"/>
              </a:spcAft>
              <a:defRPr sz="1200">
                <a:solidFill>
                  <a:srgbClr val="1C2331"/>
                </a:solidFill>
              </a:defRPr>
            </a:pPr>
            <a:r>
              <a:t>Con costos reales, el corte deberia elegirse por valor esperado.</a:t>
            </a:r>
          </a:p>
          <a:p>
            <a:pPr>
              <a:spcAft>
                <a:spcPts val="500"/>
              </a:spcAft>
              <a:defRPr sz="1200">
                <a:solidFill>
                  <a:srgbClr val="1C2331"/>
                </a:solidFill>
              </a:defRPr>
            </a:pPr>
            <a:r>
              <a:t>PR-AUC elige el mejor ranking; F2 transforma ese ranking en una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3566160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23560" y="3566160"/>
            <a:ext cx="73152" cy="68580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3675887"/>
            <a:ext cx="106984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3913632"/>
            <a:ext cx="106984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95.5%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3566160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566160"/>
            <a:ext cx="73152" cy="685800"/>
          </a:xfrm>
          <a:prstGeom prst="rect">
            <a:avLst/>
          </a:prstGeom>
          <a:solidFill>
            <a:srgbClr val="D2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1" y="3675887"/>
            <a:ext cx="106984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3913632"/>
            <a:ext cx="1069848" cy="411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2200" b="1">
                <a:solidFill>
                  <a:srgbClr val="1C2331"/>
                </a:solidFill>
              </a:defRPr>
            </a:pPr>
            <a:r>
              <a:t>39.7%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7 · MODELO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Impacto operativo: muchos churners capturados, cartera amplia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12</a:t>
            </a:r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2834640" cy="2203990"/>
          </a:xfrm>
          <a:prstGeom prst="rect">
            <a:avLst/>
          </a:prstGeom>
        </p:spPr>
      </p:pic>
      <p:pic>
        <p:nvPicPr>
          <p:cNvPr id="7" name="Picture 6" descr="lift_capture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234440"/>
            <a:ext cx="4617720" cy="25963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370832"/>
            <a:ext cx="763524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 algn="ctr">
              <a:defRPr sz="1050" b="0">
                <a:solidFill>
                  <a:srgbClr val="5C6779"/>
                </a:solidFill>
              </a:defRPr>
            </a:pPr>
            <a:r>
              <a:t>La matriz muestra el costo del umbral agresivo: muchos falsos positivos. La curva de captura permite definir cortes alternativos si el equipo comercial tiene capacidad limitada.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7 · INTERPRETACION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Variables importantes: contrato, antiguedad y servicios de anclaje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13</a:t>
            </a:r>
          </a:p>
        </p:txBody>
      </p:sp>
      <p:pic>
        <p:nvPicPr>
          <p:cNvPr id="6" name="Picture 5" descr="feature_importance_per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4297680" cy="2642713"/>
          </a:xfrm>
          <a:prstGeom prst="rect">
            <a:avLst/>
          </a:prstGeom>
        </p:spPr>
      </p:pic>
      <p:pic>
        <p:nvPicPr>
          <p:cNvPr id="7" name="Picture 6" descr="feature_importance_shap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88720"/>
            <a:ext cx="3977639" cy="24440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443984"/>
            <a:ext cx="777240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 algn="ctr">
              <a:defRPr sz="1050" b="0">
                <a:solidFill>
                  <a:srgbClr val="5C6779"/>
                </a:solidFill>
              </a:defRPr>
            </a:pPr>
            <a:r>
              <a:t>Permutation importance esta alineada con F2; SHAP ayuda a leer impacto global. Ambas son señales predictivas, no causalidad.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7 · INTERPRETACION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Lectura de negocio: perfiles a mirar primero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297680" cy="24231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Contrato mensual: la señal dominante; menos compromiso contractual.</a:t>
            </a:r>
          </a:p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Baja antiguedad: los clientes nuevos concentran mayor riesgo.</a:t>
            </a:r>
          </a:p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Fibra optica: aparece asociada a churn; puede capturar precio, experiencia o expectativas.</a:t>
            </a:r>
          </a:p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Sin seguridad/soporte tecnico: menor anclaje al servicio.</a:t>
            </a:r>
          </a:p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Cargos acumulados y gap de gasto: resumen historia y relacion con facturacion actual.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49240" y="141732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1417320"/>
            <a:ext cx="73152" cy="822960"/>
          </a:xfrm>
          <a:prstGeom prst="rect">
            <a:avLst/>
          </a:prstGeom>
          <a:solidFill>
            <a:srgbClr val="D2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13831" y="1527048"/>
            <a:ext cx="267004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CUIDADO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3831" y="1764792"/>
            <a:ext cx="2670048" cy="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No interpretamos como causalidad: son variables que ayudan a predecir.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251460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514600"/>
            <a:ext cx="73152" cy="82296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1" y="2624328"/>
            <a:ext cx="267004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ACCION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1" y="2862072"/>
            <a:ext cx="2670048" cy="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Usar score + criterio comercial para priorizar retencion.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61188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3611880"/>
            <a:ext cx="73152" cy="82296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3831" y="3721608"/>
            <a:ext cx="2670048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VALIDACION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1" y="3959352"/>
            <a:ext cx="2670048" cy="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Monitorear precision/recall y recalibrar con datos futuros.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8 · LIMITACIONES Y MEJORAS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El techo no esta solo en el algoritmo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914400"/>
          </a:xfrm>
          <a:prstGeom prst="rect">
            <a:avLst/>
          </a:prstGeom>
          <a:solidFill>
            <a:srgbClr val="D2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20756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SIN TIEMPO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81912"/>
            <a:ext cx="2075687" cy="9143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no hay corte pasado-futuro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234440"/>
            <a:ext cx="73152" cy="914400"/>
          </a:xfrm>
          <a:prstGeom prst="rect">
            <a:avLst/>
          </a:prstGeom>
          <a:solidFill>
            <a:srgbClr val="E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344168"/>
            <a:ext cx="20756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VARIABLES REDUNDANTES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581912"/>
            <a:ext cx="2075687" cy="9143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feature engineering + originales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23444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1234440"/>
            <a:ext cx="73152" cy="91440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1344168"/>
            <a:ext cx="20756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UMBRAL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1581912"/>
            <a:ext cx="2075687" cy="91439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requiere costos reales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606040"/>
            <a:ext cx="7680960" cy="15087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Validar con meses posteriores para medir estabilidad temporal.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Incorporar reclamos, uso real, tickets de soporte, promociones y cambios de plan.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Elegir umbral por valor esperado: probabilidad x valor cliente x efectividad - costo.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Probar uplift modeling para contactar persuadibles, no solo churners probables.</a:t>
            </a:r>
          </a:p>
          <a:p>
            <a:pPr>
              <a:spcAft>
                <a:spcPts val="500"/>
              </a:spcAft>
              <a:defRPr sz="1250">
                <a:solidFill>
                  <a:srgbClr val="1C2331"/>
                </a:solidFill>
              </a:defRPr>
            </a:pPr>
            <a:r>
              <a:t>Reducir redundancia si se prioriza interpretabilidad.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C5BBE"/>
                </a:solidFill>
              </a:defRPr>
            </a:pPr>
            <a:r>
              <a:t>9 ·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13816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500" b="1">
                <a:solidFill>
                  <a:srgbClr val="1C2331"/>
                </a:solidFill>
              </a:defRPr>
            </a:pPr>
            <a:r>
              <a:t>Un problema de negocio resuelto con metodo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9"/>
                </a:solidFill>
              </a:defRPr>
            </a:pPr>
            <a:r>
              <a:t>Analisis Predictivo · Churn Telco · ITBA 2026 ·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143000"/>
          </a:xfrm>
          <a:prstGeom prst="rect">
            <a:avLst/>
          </a:prstGeom>
          <a:solidFill>
            <a:srgbClr val="45A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20756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SENAL CLARA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81912"/>
            <a:ext cx="2075687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contrato, tenure, internet y soporte aparecen en EDA y modelo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23444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234440"/>
            <a:ext cx="73152" cy="1143000"/>
          </a:xfrm>
          <a:prstGeom prst="rect">
            <a:avLst/>
          </a:prstGeom>
          <a:solidFill>
            <a:srgbClr val="2C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344168"/>
            <a:ext cx="20756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METODO HONESTO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581912"/>
            <a:ext cx="2075687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PR-AUC para ranking, F2 para umbral, test usado al final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73152" cy="1143000"/>
          </a:xfrm>
          <a:prstGeom prst="rect">
            <a:avLst/>
          </a:prstGeom>
          <a:solidFill>
            <a:srgbClr val="E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344168"/>
            <a:ext cx="2075687" cy="20116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850" b="1">
                <a:solidFill>
                  <a:srgbClr val="5C6779"/>
                </a:solidFill>
              </a:defRPr>
            </a:pPr>
            <a:r>
              <a:t>MODELO 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1581912"/>
            <a:ext cx="2075687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950" b="0">
                <a:solidFill>
                  <a:srgbClr val="5C6779"/>
                </a:solidFill>
              </a:defRPr>
            </a:pPr>
            <a:r>
              <a:t>CatBoost con PR-AUC 0.667 y recall 95.5%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7315200" cy="11887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El modelo sirve para priorizar retencion, no para explicar causalidad.</a:t>
            </a:r>
          </a:p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El punto operativo actual es agresivo: captura churners pero genera falsos positivos.</a:t>
            </a:r>
          </a:p>
          <a:p>
            <a:pPr>
              <a:spcAft>
                <a:spcPts val="500"/>
              </a:spcAft>
              <a:defRPr sz="1400">
                <a:solidFill>
                  <a:srgbClr val="1C2331"/>
                </a:solidFill>
              </a:defRPr>
            </a:pPr>
            <a:r>
              <a:t>La siguiente mejora no es otro algoritmo: es validar con datos futuros y definir costos de negocio.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