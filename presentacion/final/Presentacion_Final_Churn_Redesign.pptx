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61C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0" cy="274320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950" b="1">
                <a:solidFill>
                  <a:srgbClr val="92C4FF"/>
                </a:solidFill>
              </a:defRPr>
            </a:pPr>
            <a:r>
              <a:t>ANALISIS PREDICTIVO - EXAMEN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6217920" cy="868680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3100" b="1">
                <a:solidFill>
                  <a:srgbClr val="FFFFFF"/>
                </a:solidFill>
              </a:defRPr>
            </a:pPr>
            <a:r>
              <a:t>Prediccion de churn en clientes Telco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920240"/>
            <a:ext cx="6675120" cy="320040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1300" b="0">
                <a:solidFill>
                  <a:srgbClr val="CDD7E6"/>
                </a:solidFill>
              </a:defRPr>
            </a:pPr>
            <a:r>
              <a:t>Caso de negocio, modelo predictivo y accion comercial sobre clientes con riesgo de baja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246120"/>
            <a:ext cx="15544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3246120"/>
            <a:ext cx="1554480" cy="73152"/>
          </a:xfrm>
          <a:prstGeom prst="rect">
            <a:avLst/>
          </a:prstGeom>
          <a:solidFill>
            <a:srgbClr val="2297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392424"/>
            <a:ext cx="1280160" cy="20116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819" b="1">
                <a:solidFill>
                  <a:srgbClr val="5E6877"/>
                </a:solidFill>
              </a:defRPr>
            </a:pPr>
            <a:r>
              <a:t>CLIENTES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630168"/>
            <a:ext cx="1280160" cy="38404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2000" b="1">
                <a:solidFill>
                  <a:srgbClr val="161C27"/>
                </a:solidFill>
              </a:defRPr>
            </a:pPr>
            <a:r>
              <a:t>7.043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032504"/>
            <a:ext cx="1280160" cy="45719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919" b="0">
                <a:solidFill>
                  <a:srgbClr val="5E6877"/>
                </a:solidFill>
              </a:defRPr>
            </a:pPr>
            <a:r>
              <a:t>dataset IBM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14600" y="3246120"/>
            <a:ext cx="15544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14600" y="3246120"/>
            <a:ext cx="1554480" cy="73152"/>
          </a:xfrm>
          <a:prstGeom prst="rect">
            <a:avLst/>
          </a:prstGeom>
          <a:solidFill>
            <a:srgbClr val="E7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51760" y="3392424"/>
            <a:ext cx="1280160" cy="20116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819" b="1">
                <a:solidFill>
                  <a:srgbClr val="5E6877"/>
                </a:solidFill>
              </a:defRPr>
            </a:pPr>
            <a:r>
              <a:t>CHURN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3630168"/>
            <a:ext cx="1280160" cy="38404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2000" b="1">
                <a:solidFill>
                  <a:srgbClr val="161C27"/>
                </a:solidFill>
              </a:defRPr>
            </a:pPr>
            <a:r>
              <a:t>26.5%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4032504"/>
            <a:ext cx="1280160" cy="45719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919" b="0">
                <a:solidFill>
                  <a:srgbClr val="5E6877"/>
                </a:solidFill>
              </a:defRPr>
            </a:pPr>
            <a:r>
              <a:t>1869 clientes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3246120"/>
            <a:ext cx="15544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3246120"/>
            <a:ext cx="1554480" cy="73152"/>
          </a:xfrm>
          <a:prstGeom prst="rect">
            <a:avLst/>
          </a:prstGeom>
          <a:solidFill>
            <a:srgbClr val="3C9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3392424"/>
            <a:ext cx="1280160" cy="20116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819" b="1">
                <a:solidFill>
                  <a:srgbClr val="5E6877"/>
                </a:solidFill>
              </a:defRPr>
            </a:pPr>
            <a:r>
              <a:t>MODELO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3630168"/>
            <a:ext cx="1280160" cy="38404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2000" b="1">
                <a:solidFill>
                  <a:srgbClr val="161C27"/>
                </a:solidFill>
              </a:defRPr>
            </a:pPr>
            <a:r>
              <a:t>CatBoost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4032504"/>
            <a:ext cx="1280160" cy="45719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919" b="0">
                <a:solidFill>
                  <a:srgbClr val="5E6877"/>
                </a:solidFill>
              </a:defRPr>
            </a:pPr>
            <a:r>
              <a:t>mejor PR-AUC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3246120"/>
            <a:ext cx="15544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3246120"/>
            <a:ext cx="1554480" cy="73152"/>
          </a:xfrm>
          <a:prstGeom prst="rect">
            <a:avLst/>
          </a:prstGeom>
          <a:solidFill>
            <a:srgbClr val="235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3392424"/>
            <a:ext cx="1280160" cy="20116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819" b="1">
                <a:solidFill>
                  <a:srgbClr val="5E6877"/>
                </a:solidFill>
              </a:defRPr>
            </a:pPr>
            <a:r>
              <a:t>RECALL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630168"/>
            <a:ext cx="1280160" cy="38404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2000" b="1">
                <a:solidFill>
                  <a:srgbClr val="161C27"/>
                </a:solidFill>
              </a:defRPr>
            </a:pPr>
            <a:r>
              <a:t>90.9%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032504"/>
            <a:ext cx="1280160" cy="45719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919" b="0">
                <a:solidFill>
                  <a:srgbClr val="5E6877"/>
                </a:solidFill>
              </a:defRPr>
            </a:pPr>
            <a:r>
              <a:t>test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35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219456"/>
            <a:ext cx="2834640" cy="256032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850" b="1">
                <a:solidFill>
                  <a:srgbClr val="2356C2"/>
                </a:solidFill>
              </a:defRPr>
            </a:pPr>
            <a:r>
              <a:t>1 - CASO DE NEGOCIO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475488"/>
            <a:ext cx="8138160" cy="594360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2300" b="1">
                <a:solidFill>
                  <a:srgbClr val="161C27"/>
                </a:solidFill>
              </a:defRPr>
            </a:pPr>
            <a:r>
              <a:t>Predecir churn para priorizar retencion rentable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828032"/>
            <a:ext cx="4114800" cy="164592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750" b="0">
                <a:solidFill>
                  <a:srgbClr val="5E6877"/>
                </a:solidFill>
              </a:defRPr>
            </a:pPr>
            <a:r>
              <a:t>Churn Telco · Examen Final · 02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207008"/>
            <a:ext cx="192024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07008"/>
            <a:ext cx="1920240" cy="73152"/>
          </a:xfrm>
          <a:prstGeom prst="rect">
            <a:avLst/>
          </a:prstGeom>
          <a:solidFill>
            <a:srgbClr val="E7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53312"/>
            <a:ext cx="1645920" cy="20116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819" b="1">
                <a:solidFill>
                  <a:srgbClr val="5E6877"/>
                </a:solidFill>
              </a:defRPr>
            </a:pPr>
            <a:r>
              <a:t>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591056"/>
            <a:ext cx="1645920" cy="38404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2000" b="1">
                <a:solidFill>
                  <a:srgbClr val="161C27"/>
                </a:solidFill>
              </a:defRPr>
            </a:pPr>
            <a:r>
              <a:t>Churn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993392"/>
            <a:ext cx="1645920" cy="45719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919" b="0">
                <a:solidFill>
                  <a:srgbClr val="5E6877"/>
                </a:solidFill>
              </a:defRPr>
            </a:pPr>
            <a:r>
              <a:t>Yes si el cliente se dio de baja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0" y="1207008"/>
            <a:ext cx="192024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0" y="1207008"/>
            <a:ext cx="1920240" cy="73152"/>
          </a:xfrm>
          <a:prstGeom prst="rect">
            <a:avLst/>
          </a:prstGeom>
          <a:solidFill>
            <a:srgbClr val="2297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80360" y="1353312"/>
            <a:ext cx="1645920" cy="20116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819" b="1">
                <a:solidFill>
                  <a:srgbClr val="5E6877"/>
                </a:solidFill>
              </a:defRPr>
            </a:pPr>
            <a:r>
              <a:t>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1591056"/>
            <a:ext cx="1645920" cy="38404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2000" b="1">
                <a:solidFill>
                  <a:srgbClr val="161C27"/>
                </a:solidFill>
              </a:defRPr>
            </a:pPr>
            <a:r>
              <a:t>7.043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1993392"/>
            <a:ext cx="1645920" cy="45719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919" b="0">
                <a:solidFill>
                  <a:srgbClr val="5E6877"/>
                </a:solidFill>
              </a:defRPr>
            </a:pPr>
            <a:r>
              <a:t>1869 churners vs 5174 no churn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92040" y="1207008"/>
            <a:ext cx="150876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92040" y="1207008"/>
            <a:ext cx="1508760" cy="73152"/>
          </a:xfrm>
          <a:prstGeom prst="rect">
            <a:avLst/>
          </a:prstGeom>
          <a:solidFill>
            <a:srgbClr val="C847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0" y="1353312"/>
            <a:ext cx="1234439" cy="20116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819" b="1">
                <a:solidFill>
                  <a:srgbClr val="5E6877"/>
                </a:solidFill>
              </a:defRPr>
            </a:pPr>
            <a:r>
              <a:t>TASA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1591056"/>
            <a:ext cx="1234439" cy="38404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2000" b="1">
                <a:solidFill>
                  <a:srgbClr val="161C27"/>
                </a:solidFill>
              </a:defRPr>
            </a:pPr>
            <a:r>
              <a:t>26.5%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1993392"/>
            <a:ext cx="1234439" cy="45719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919" b="0">
                <a:solidFill>
                  <a:srgbClr val="5E6877"/>
                </a:solidFill>
              </a:defRPr>
            </a:pPr>
            <a:r>
              <a:t>clase positiva minoritaria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29400" y="1207008"/>
            <a:ext cx="182880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629400" y="1207008"/>
            <a:ext cx="1828800" cy="73152"/>
          </a:xfrm>
          <a:prstGeom prst="rect">
            <a:avLst/>
          </a:prstGeom>
          <a:solidFill>
            <a:srgbClr val="235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0" y="1353312"/>
            <a:ext cx="1554480" cy="20116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819" b="1">
                <a:solidFill>
                  <a:srgbClr val="5E6877"/>
                </a:solidFill>
              </a:defRPr>
            </a:pPr>
            <a:r>
              <a:t>OBJETIVO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1591056"/>
            <a:ext cx="1554480" cy="38404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2000" b="1">
                <a:solidFill>
                  <a:srgbClr val="161C27"/>
                </a:solidFill>
              </a:defRPr>
            </a:pPr>
            <a:r>
              <a:t>score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1993392"/>
            <a:ext cx="1554480" cy="45719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919" b="0">
                <a:solidFill>
                  <a:srgbClr val="5E6877"/>
                </a:solidFill>
              </a:defRPr>
            </a:pPr>
            <a:r>
              <a:t>probabilidad de churn por cliente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" y="2514600"/>
            <a:ext cx="77724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20">
                <a:solidFill>
                  <a:srgbClr val="161C27"/>
                </a:solidFill>
              </a:defRPr>
            </a:pPr>
            <a:r>
              <a:t>Problema: una telco pierde ingreso recurrente cuando un cliente abandona el servicio.</a:t>
            </a:r>
          </a:p>
          <a:p>
            <a:pPr>
              <a:spcAft>
                <a:spcPts val="500"/>
              </a:spcAft>
              <a:defRPr sz="1220">
                <a:solidFill>
                  <a:srgbClr val="161C27"/>
                </a:solidFill>
              </a:defRPr>
            </a:pPr>
            <a:r>
              <a:t>Decision de negocio: ordenar clientes activos por riesgo y priorizar acciones de retencion.</a:t>
            </a:r>
          </a:p>
          <a:p>
            <a:pPr>
              <a:spcAft>
                <a:spcPts val="500"/>
              </a:spcAft>
              <a:defRPr sz="1220">
                <a:solidFill>
                  <a:srgbClr val="161C27"/>
                </a:solidFill>
              </a:defRPr>
            </a:pPr>
            <a:r>
              <a:t>Regla economica: adquirir un cliente nuevo suele costar 5 a 25 veces mas que retener uno existente (HBR/Bain).</a:t>
            </a:r>
          </a:p>
          <a:p>
            <a:pPr>
              <a:spcAft>
                <a:spcPts val="500"/>
              </a:spcAft>
              <a:defRPr sz="1220">
                <a:solidFill>
                  <a:srgbClr val="161C27"/>
                </a:solidFill>
              </a:defRPr>
            </a:pPr>
            <a:r>
              <a:t>Impacto esperado: incluso mejoras chicas de retencion pueden tener efecto grande en rentabilidad; el modelo ayuda a enfocar el esfuerzo comercial.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343400"/>
            <a:ext cx="7498079" cy="256032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950" b="0">
                <a:solidFill>
                  <a:srgbClr val="5E6877"/>
                </a:solidFill>
              </a:defRPr>
            </a:pPr>
            <a:r>
              <a:t>Nota: el modelo no decide la oferta; entrega un ranking para que negocio defina accion, costo y capacidad.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35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219456"/>
            <a:ext cx="2834640" cy="256032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850" b="1">
                <a:solidFill>
                  <a:srgbClr val="2356C2"/>
                </a:solidFill>
              </a:defRPr>
            </a:pPr>
            <a:r>
              <a:t>2 -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475488"/>
            <a:ext cx="8138160" cy="594360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2300" b="1">
                <a:solidFill>
                  <a:srgbClr val="161C27"/>
                </a:solidFill>
              </a:defRPr>
            </a:pPr>
            <a:r>
              <a:t>Variables predictoras agrupadas y limpieza realizada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828032"/>
            <a:ext cx="4114800" cy="164592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750" b="0">
                <a:solidFill>
                  <a:srgbClr val="5E6877"/>
                </a:solidFill>
              </a:defRPr>
            </a:pPr>
            <a:r>
              <a:t>Churn Telco · Examen Final · 03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43000"/>
            <a:ext cx="1417320" cy="749808"/>
          </a:xfrm>
          <a:prstGeom prst="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43000"/>
            <a:ext cx="1417320" cy="73152"/>
          </a:xfrm>
          <a:prstGeom prst="rect">
            <a:avLst/>
          </a:prstGeom>
          <a:solidFill>
            <a:srgbClr val="235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89304"/>
            <a:ext cx="1143000" cy="20116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819" b="1">
                <a:solidFill>
                  <a:srgbClr val="5E6877"/>
                </a:solidFill>
              </a:defRPr>
            </a:pPr>
            <a:r>
              <a:t>TOTAL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27048"/>
            <a:ext cx="1143000" cy="38404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2000" b="1">
                <a:solidFill>
                  <a:srgbClr val="161C27"/>
                </a:solidFill>
              </a:defRPr>
            </a:pPr>
            <a:r>
              <a:t>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29384"/>
            <a:ext cx="1143000" cy="-73152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919" b="0">
                <a:solidFill>
                  <a:srgbClr val="5E6877"/>
                </a:solidFill>
              </a:defRPr>
            </a:pPr>
            <a:r>
              <a:t>columnas originales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84831" y="1143000"/>
            <a:ext cx="1600200" cy="749808"/>
          </a:xfrm>
          <a:prstGeom prst="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84831" y="1143000"/>
            <a:ext cx="1600200" cy="73152"/>
          </a:xfrm>
          <a:prstGeom prst="rect">
            <a:avLst/>
          </a:prstGeom>
          <a:solidFill>
            <a:srgbClr val="3C9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21991" y="1289304"/>
            <a:ext cx="1325880" cy="20116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819" b="1">
                <a:solidFill>
                  <a:srgbClr val="5E6877"/>
                </a:solidFill>
              </a:defRPr>
            </a:pPr>
            <a:r>
              <a:t>PREDICTORAS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1991" y="1527048"/>
            <a:ext cx="1325880" cy="38404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2000" b="1">
                <a:solidFill>
                  <a:srgbClr val="161C27"/>
                </a:solidFill>
              </a:defRPr>
            </a:pPr>
            <a:r>
              <a:t>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21991" y="1929384"/>
            <a:ext cx="1325880" cy="-73152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919" b="0">
                <a:solidFill>
                  <a:srgbClr val="5E6877"/>
                </a:solidFill>
              </a:defRPr>
            </a:pPr>
            <a:r>
              <a:t>sin customerID ni Churn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67912" y="1143000"/>
            <a:ext cx="1143000" cy="749808"/>
          </a:xfrm>
          <a:prstGeom prst="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67912" y="1143000"/>
            <a:ext cx="1143000" cy="73152"/>
          </a:xfrm>
          <a:prstGeom prst="rect">
            <a:avLst/>
          </a:prstGeom>
          <a:solidFill>
            <a:srgbClr val="E7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05072" y="1289304"/>
            <a:ext cx="868680" cy="20116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819" b="1">
                <a:solidFill>
                  <a:srgbClr val="5E6877"/>
                </a:solidFill>
              </a:defRPr>
            </a:pPr>
            <a:r>
              <a:t>TARGET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05072" y="1527048"/>
            <a:ext cx="868680" cy="38404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2000" b="1">
                <a:solidFill>
                  <a:srgbClr val="161C27"/>
                </a:solidFill>
              </a:defRPr>
            </a:pPr>
            <a: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05072" y="1929384"/>
            <a:ext cx="868680" cy="-73152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919" b="0">
                <a:solidFill>
                  <a:srgbClr val="5E6877"/>
                </a:solidFill>
              </a:defRPr>
            </a:pPr>
            <a:r>
              <a:t>Churn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93792" y="1143000"/>
            <a:ext cx="13258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93792" y="1143000"/>
            <a:ext cx="1325880" cy="73152"/>
          </a:xfrm>
          <a:prstGeom prst="rect">
            <a:avLst/>
          </a:prstGeom>
          <a:solidFill>
            <a:srgbClr val="C847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30952" y="1289304"/>
            <a:ext cx="1051560" cy="20116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819" b="1">
                <a:solidFill>
                  <a:srgbClr val="5E6877"/>
                </a:solidFill>
              </a:defRPr>
            </a:pPr>
            <a:r>
              <a:t>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0952" y="1527048"/>
            <a:ext cx="1051560" cy="38404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2000" b="1">
                <a:solidFill>
                  <a:srgbClr val="161C27"/>
                </a:solidFill>
              </a:defRPr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30952" y="1929384"/>
            <a:ext cx="1051560" cy="-73152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919" b="0">
                <a:solidFill>
                  <a:srgbClr val="5E6877"/>
                </a:solidFill>
              </a:defRPr>
            </a:pPr>
            <a:r>
              <a:t>excluido del modelo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20840" y="1143000"/>
            <a:ext cx="1737360" cy="749808"/>
          </a:xfrm>
          <a:prstGeom prst="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720840" y="1143000"/>
            <a:ext cx="1737360" cy="73152"/>
          </a:xfrm>
          <a:prstGeom prst="rect">
            <a:avLst/>
          </a:prstGeom>
          <a:solidFill>
            <a:srgbClr val="2297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0" y="1289304"/>
            <a:ext cx="1463039" cy="20116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819" b="1">
                <a:solidFill>
                  <a:srgbClr val="5E6877"/>
                </a:solidFill>
              </a:defRPr>
            </a:pPr>
            <a:r>
              <a:t>LIMPIEZA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1527048"/>
            <a:ext cx="1463039" cy="38404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2000" b="1">
                <a:solidFill>
                  <a:srgbClr val="161C27"/>
                </a:solidFill>
              </a:defRPr>
            </a:pPr>
            <a:r>
              <a:t>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1929384"/>
            <a:ext cx="1463039" cy="-73152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919" b="0">
                <a:solidFill>
                  <a:srgbClr val="5E6877"/>
                </a:solidFill>
              </a:defRPr>
            </a:pPr>
            <a:r>
              <a:t>TotalCharges vacio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2240280"/>
            <a:ext cx="7863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30">
                <a:solidFill>
                  <a:srgbClr val="161C27"/>
                </a:solidFill>
              </a:defRPr>
            </a:pPr>
            <a:r>
              <a:t>Demograficas (4): genero, senior, pareja, dependientes. Senal baja/moderada; dependientes y pareja reducen churn observado.</a:t>
            </a:r>
          </a:p>
          <a:p>
            <a:pPr>
              <a:spcAft>
                <a:spcPts val="500"/>
              </a:spcAft>
              <a:defRPr sz="1130">
                <a:solidFill>
                  <a:srgbClr val="161C27"/>
                </a:solidFill>
              </a:defRPr>
            </a:pPr>
            <a:r>
              <a:t>Servicios (9): telefono, internet, seguridad, backup, proteccion, soporte, streaming. Fibra y falta de soporte/seguridad elevan riesgo.</a:t>
            </a:r>
          </a:p>
          <a:p>
            <a:pPr>
              <a:spcAft>
                <a:spcPts val="500"/>
              </a:spcAft>
              <a:defRPr sz="1130">
                <a:solidFill>
                  <a:srgbClr val="161C27"/>
                </a:solidFill>
              </a:defRPr>
            </a:pPr>
            <a:r>
              <a:t>Contrato (2): tenure y tipo de contrato. Contrato mensual y baja antiguedad son los drivers mas fuertes.</a:t>
            </a:r>
          </a:p>
          <a:p>
            <a:pPr>
              <a:spcAft>
                <a:spcPts val="500"/>
              </a:spcAft>
              <a:defRPr sz="1130">
                <a:solidFill>
                  <a:srgbClr val="161C27"/>
                </a:solidFill>
              </a:defRPr>
            </a:pPr>
            <a:r>
              <a:t>Facturacion (4): paperless, metodo de pago, MonthlyCharges, TotalCharges. Pago electronico y ciertos niveles de cargo aportan senal.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4315968"/>
            <a:ext cx="7772400" cy="320040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950" b="0">
                <a:solidFill>
                  <a:srgbClr val="5E6877"/>
                </a:solidFill>
              </a:defRPr>
            </a:pPr>
            <a:r>
              <a:t>Limpieza: TotalCharges venia como texto; los 11 vacios correspondian a clientes nuevos con tenure = 0 y se imputaron como 0. Se agregaron features derivadas reproducibles.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35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219456"/>
            <a:ext cx="2834640" cy="256032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850" b="1">
                <a:solidFill>
                  <a:srgbClr val="2356C2"/>
                </a:solidFill>
              </a:defRPr>
            </a:pPr>
            <a:r>
              <a:t>3 - 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475488"/>
            <a:ext cx="8138160" cy="594360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2300" b="1">
                <a:solidFill>
                  <a:srgbClr val="161C27"/>
                </a:solidFill>
              </a:defRPr>
            </a:pPr>
            <a:r>
              <a:t>La tasa de churn varia fuerte por categoria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828032"/>
            <a:ext cx="4114800" cy="164592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750" b="0">
                <a:solidFill>
                  <a:srgbClr val="5E6877"/>
                </a:solidFill>
              </a:defRPr>
            </a:pPr>
            <a:r>
              <a:t>Churn Telco · Examen Final · 04</a:t>
            </a:r>
          </a:p>
        </p:txBody>
      </p:sp>
      <p:pic>
        <p:nvPicPr>
          <p:cNvPr id="7" name="Picture 6" descr="eda_churn_rate_vari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78992"/>
            <a:ext cx="8138160" cy="442072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4462272"/>
            <a:ext cx="7726679" cy="274320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950" b="0">
                <a:solidFill>
                  <a:srgbClr val="5E6877"/>
                </a:solidFill>
              </a:defRPr>
            </a:pPr>
            <a:r>
              <a:t>Lectura: contrato mensual, fibra optica y ausencia de soporte/seguridad se ubican por encima de la media de churn. Esto anticipa variables importantes del modelo.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35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219456"/>
            <a:ext cx="2834640" cy="256032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850" b="1">
                <a:solidFill>
                  <a:srgbClr val="2356C2"/>
                </a:solidFill>
              </a:defRPr>
            </a:pPr>
            <a:r>
              <a:t>4 - EVALUACION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475488"/>
            <a:ext cx="8138160" cy="594360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2300" b="1">
                <a:solidFill>
                  <a:srgbClr val="161C27"/>
                </a:solidFill>
              </a:defRPr>
            </a:pPr>
            <a:r>
              <a:t>Por que PR-AUC para modelo y F2 para umbral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828032"/>
            <a:ext cx="4114800" cy="164592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750" b="0">
                <a:solidFill>
                  <a:srgbClr val="5E6877"/>
                </a:solidFill>
              </a:defRPr>
            </a:pPr>
            <a:r>
              <a:t>Churn Telco · Examen Final · 05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173736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1737360" cy="73152"/>
          </a:xfrm>
          <a:prstGeom prst="rect">
            <a:avLst/>
          </a:prstGeom>
          <a:solidFill>
            <a:srgbClr val="C847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80744"/>
            <a:ext cx="1463039" cy="20116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819" b="1">
                <a:solidFill>
                  <a:srgbClr val="5E6877"/>
                </a:solidFill>
              </a:defRPr>
            </a:pPr>
            <a:r>
              <a:t>DESBALANCE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618488"/>
            <a:ext cx="1463039" cy="38404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2000" b="1">
                <a:solidFill>
                  <a:srgbClr val="161C27"/>
                </a:solidFill>
              </a:defRPr>
            </a:pPr>
            <a:r>
              <a:t>26.5%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20824"/>
            <a:ext cx="1463039" cy="45719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919" b="0">
                <a:solidFill>
                  <a:srgbClr val="5E6877"/>
                </a:solidFill>
              </a:defRPr>
            </a:pPr>
            <a:r>
              <a:t>churn positivo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6040" y="1234440"/>
            <a:ext cx="164592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06040" y="1234440"/>
            <a:ext cx="1645920" cy="73152"/>
          </a:xfrm>
          <a:prstGeom prst="rect">
            <a:avLst/>
          </a:prstGeom>
          <a:solidFill>
            <a:srgbClr val="E7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1380744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819" b="1">
                <a:solidFill>
                  <a:srgbClr val="5E6877"/>
                </a:solidFill>
              </a:defRPr>
            </a:pPr>
            <a:r>
              <a:t>NO SKILL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1618488"/>
            <a:ext cx="1371600" cy="38404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2000" b="1">
                <a:solidFill>
                  <a:srgbClr val="161C27"/>
                </a:solidFill>
              </a:defRPr>
            </a:pPr>
            <a:r>
              <a:t>0.265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2020824"/>
            <a:ext cx="1371600" cy="45719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919" b="0">
                <a:solidFill>
                  <a:srgbClr val="5E6877"/>
                </a:solidFill>
              </a:defRPr>
            </a:pPr>
            <a:r>
              <a:t>PR-AUC base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26280" y="1234440"/>
            <a:ext cx="164592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26280" y="1234440"/>
            <a:ext cx="1645920" cy="73152"/>
          </a:xfrm>
          <a:prstGeom prst="rect">
            <a:avLst/>
          </a:prstGeom>
          <a:solidFill>
            <a:srgbClr val="235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0" y="1380744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819" b="1">
                <a:solidFill>
                  <a:srgbClr val="5E6877"/>
                </a:solidFill>
              </a:defRPr>
            </a:pPr>
            <a:r>
              <a:t>PR-AUC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1618488"/>
            <a:ext cx="1371600" cy="38404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2000" b="1">
                <a:solidFill>
                  <a:srgbClr val="161C27"/>
                </a:solidFill>
              </a:defRPr>
            </a:pPr>
            <a:r>
              <a:t>ranking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2020824"/>
            <a:ext cx="1371600" cy="45719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919" b="0">
                <a:solidFill>
                  <a:srgbClr val="5E6877"/>
                </a:solidFill>
              </a:defRPr>
            </a:pPr>
            <a:r>
              <a:t>compara modelos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46520" y="1234440"/>
            <a:ext cx="164592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46520" y="1234440"/>
            <a:ext cx="1645920" cy="73152"/>
          </a:xfrm>
          <a:prstGeom prst="rect">
            <a:avLst/>
          </a:prstGeom>
          <a:solidFill>
            <a:srgbClr val="3C9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1380744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819" b="1">
                <a:solidFill>
                  <a:srgbClr val="5E6877"/>
                </a:solidFill>
              </a:defRPr>
            </a:pPr>
            <a:r>
              <a:t>F2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1618488"/>
            <a:ext cx="1371600" cy="38404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2000" b="1">
                <a:solidFill>
                  <a:srgbClr val="161C27"/>
                </a:solidFill>
              </a:defRPr>
            </a:pPr>
            <a:r>
              <a:t>umbral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2020824"/>
            <a:ext cx="1371600" cy="45719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919" b="0">
                <a:solidFill>
                  <a:srgbClr val="5E6877"/>
                </a:solidFill>
              </a:defRPr>
            </a:pPr>
            <a:r>
              <a:t>prioriza recall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560320"/>
            <a:ext cx="7406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161C27"/>
                </a:solidFill>
              </a:defRPr>
            </a:pPr>
            <a:r>
              <a:t>Accuracy engana: predecir siempre No Churn acierta 73,5% pero no detecta ningun churner.</a:t>
            </a:r>
          </a:p>
          <a:p>
            <a:pPr>
              <a:spcAft>
                <a:spcPts val="500"/>
              </a:spcAft>
              <a:defRPr sz="1250">
                <a:solidFill>
                  <a:srgbClr val="161C27"/>
                </a:solidFill>
              </a:defRPr>
            </a:pPr>
            <a:r>
              <a:t>PR-AUC evalua si el modelo pone arriba del ranking a los clientes que realmente churnean.</a:t>
            </a:r>
          </a:p>
          <a:p>
            <a:pPr>
              <a:spcAft>
                <a:spcPts val="500"/>
              </a:spcAft>
              <a:defRPr sz="1250">
                <a:solidFill>
                  <a:srgbClr val="161C27"/>
                </a:solidFill>
              </a:defRPr>
            </a:pPr>
            <a:r>
              <a:t>F2 se usa despues para elegir el punto de corte: pesa mas recall, pero precision sigue entrando en la formula.</a:t>
            </a:r>
          </a:p>
          <a:p>
            <a:pPr>
              <a:spcAft>
                <a:spcPts val="500"/>
              </a:spcAft>
              <a:defRPr sz="1250">
                <a:solidFill>
                  <a:srgbClr val="161C27"/>
                </a:solidFill>
              </a:defRPr>
            </a:pPr>
            <a:r>
              <a:t>Separar ranking y umbral evita mezclar dos decisiones distintas.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35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219456"/>
            <a:ext cx="2834640" cy="256032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850" b="1">
                <a:solidFill>
                  <a:srgbClr val="2356C2"/>
                </a:solidFill>
              </a:defRPr>
            </a:pPr>
            <a:r>
              <a:t>4 - EVALUACION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475488"/>
            <a:ext cx="8138160" cy="594360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2300" b="1">
                <a:solidFill>
                  <a:srgbClr val="161C27"/>
                </a:solidFill>
              </a:defRPr>
            </a:pPr>
            <a:r>
              <a:t>Validacion: todo se decide dentro de train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828032"/>
            <a:ext cx="4114800" cy="164592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750" b="0">
                <a:solidFill>
                  <a:srgbClr val="5E6877"/>
                </a:solidFill>
              </a:defRPr>
            </a:pPr>
            <a:r>
              <a:t>Churn Telco · Examen Final · 06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234440"/>
            <a:ext cx="15544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234440"/>
            <a:ext cx="1554480" cy="73152"/>
          </a:xfrm>
          <a:prstGeom prst="rect">
            <a:avLst/>
          </a:prstGeom>
          <a:solidFill>
            <a:srgbClr val="235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380744"/>
            <a:ext cx="1280160" cy="20116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819" b="1">
                <a:solidFill>
                  <a:srgbClr val="5E6877"/>
                </a:solidFill>
              </a:defRPr>
            </a:pPr>
            <a:r>
              <a:t>TRAIN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618488"/>
            <a:ext cx="1280160" cy="38404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2000" b="1">
                <a:solidFill>
                  <a:srgbClr val="161C27"/>
                </a:solidFill>
              </a:defRPr>
            </a:pPr>
            <a:r>
              <a:t>5.634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020824"/>
            <a:ext cx="1280160" cy="45719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919" b="0">
                <a:solidFill>
                  <a:srgbClr val="5E6877"/>
                </a:solidFill>
              </a:defRPr>
            </a:pPr>
            <a:r>
              <a:t>80%, estratificado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14600" y="1234440"/>
            <a:ext cx="15544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14600" y="1234440"/>
            <a:ext cx="1554480" cy="73152"/>
          </a:xfrm>
          <a:prstGeom prst="rect">
            <a:avLst/>
          </a:prstGeom>
          <a:solidFill>
            <a:srgbClr val="2297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1760" y="1380744"/>
            <a:ext cx="1280160" cy="20116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819" b="1">
                <a:solidFill>
                  <a:srgbClr val="5E6877"/>
                </a:solidFill>
              </a:defRPr>
            </a:pPr>
            <a:r>
              <a:t>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1618488"/>
            <a:ext cx="1280160" cy="38404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2000" b="1">
                <a:solidFill>
                  <a:srgbClr val="161C27"/>
                </a:solidFill>
              </a:defRPr>
            </a:pPr>
            <a:r>
              <a:t>1.409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2020824"/>
            <a:ext cx="1280160" cy="45719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919" b="0">
                <a:solidFill>
                  <a:srgbClr val="5E6877"/>
                </a:solidFill>
              </a:defRPr>
            </a:pPr>
            <a:r>
              <a:t>20%, cerrado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1234440"/>
            <a:ext cx="15544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43400" y="1234440"/>
            <a:ext cx="1554480" cy="73152"/>
          </a:xfrm>
          <a:prstGeom prst="rect">
            <a:avLst/>
          </a:prstGeom>
          <a:solidFill>
            <a:srgbClr val="3C9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1380744"/>
            <a:ext cx="1280160" cy="20116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819" b="1">
                <a:solidFill>
                  <a:srgbClr val="5E6877"/>
                </a:solidFill>
              </a:defRPr>
            </a:pPr>
            <a:r>
              <a:t>CV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1618488"/>
            <a:ext cx="1280160" cy="38404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2000" b="1">
                <a:solidFill>
                  <a:srgbClr val="161C27"/>
                </a:solidFill>
              </a:defRPr>
            </a:pPr>
            <a:r>
              <a:t>3 folds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2020824"/>
            <a:ext cx="1280160" cy="45719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919" b="0">
                <a:solidFill>
                  <a:srgbClr val="5E6877"/>
                </a:solidFill>
              </a:defRPr>
            </a:pPr>
            <a:r>
              <a:t>solo train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200" y="1234440"/>
            <a:ext cx="15544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1234440"/>
            <a:ext cx="1554480" cy="73152"/>
          </a:xfrm>
          <a:prstGeom prst="rect">
            <a:avLst/>
          </a:prstGeom>
          <a:solidFill>
            <a:srgbClr val="685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1380744"/>
            <a:ext cx="1280160" cy="20116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819" b="1">
                <a:solidFill>
                  <a:srgbClr val="5E6877"/>
                </a:solidFill>
              </a:defRPr>
            </a:pPr>
            <a:r>
              <a:t>SEED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1618488"/>
            <a:ext cx="1280160" cy="38404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2000" b="1">
                <a:solidFill>
                  <a:srgbClr val="161C27"/>
                </a:solidFill>
              </a:defRPr>
            </a:pPr>
            <a:r>
              <a:t>42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2020824"/>
            <a:ext cx="1280160" cy="45719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919" b="0">
                <a:solidFill>
                  <a:srgbClr val="5E6877"/>
                </a:solidFill>
              </a:defRPr>
            </a:pPr>
            <a:r>
              <a:t>reproducible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2606040"/>
            <a:ext cx="73152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30">
                <a:solidFill>
                  <a:srgbClr val="161C27"/>
                </a:solidFill>
              </a:defRPr>
            </a:pPr>
            <a:r>
              <a:t>Split estratificado: la proporcion de churn queda estable en train y test.</a:t>
            </a:r>
          </a:p>
          <a:p>
            <a:pPr>
              <a:spcAft>
                <a:spcPts val="500"/>
              </a:spcAft>
              <a:defRPr sz="1230">
                <a:solidFill>
                  <a:srgbClr val="161C27"/>
                </a:solidFill>
              </a:defRPr>
            </a:pPr>
            <a:r>
              <a:t>GridSearchCV: cada modelo se compara con la misma validacion cruzada y la misma metrica PR-AUC.</a:t>
            </a:r>
          </a:p>
          <a:p>
            <a:pPr>
              <a:spcAft>
                <a:spcPts val="500"/>
              </a:spcAft>
              <a:defRPr sz="1230">
                <a:solidFill>
                  <a:srgbClr val="161C27"/>
                </a:solidFill>
              </a:defRPr>
            </a:pPr>
            <a:r>
              <a:t>Pipeline: imputacion, escalado y one-hot se ajustan dentro de cada fold, evitando leakage de preprocesamiento.</a:t>
            </a:r>
          </a:p>
          <a:p>
            <a:pPr>
              <a:spcAft>
                <a:spcPts val="500"/>
              </a:spcAft>
              <a:defRPr sz="1230">
                <a:solidFill>
                  <a:srgbClr val="161C27"/>
                </a:solidFill>
              </a:defRPr>
            </a:pPr>
            <a:r>
              <a:t>El umbral se elige en validacion interna del train; el test se usa una sola vez para reportar performance final.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35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219456"/>
            <a:ext cx="2834640" cy="256032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850" b="1">
                <a:solidFill>
                  <a:srgbClr val="2356C2"/>
                </a:solidFill>
              </a:defRPr>
            </a:pPr>
            <a:r>
              <a:t>5 -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475488"/>
            <a:ext cx="8138160" cy="594360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2300" b="1">
                <a:solidFill>
                  <a:srgbClr val="161C27"/>
                </a:solidFill>
              </a:defRPr>
            </a:pPr>
            <a:r>
              <a:t>Baseline paso a paso: Dummy y regresion logistica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828032"/>
            <a:ext cx="4114800" cy="164592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750" b="0">
                <a:solidFill>
                  <a:srgbClr val="5E6877"/>
                </a:solidFill>
              </a:defRPr>
            </a:pPr>
            <a:r>
              <a:t>Churn Telco · Examen Final · 07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34440"/>
            <a:ext cx="192024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234440"/>
            <a:ext cx="1920240" cy="73152"/>
          </a:xfrm>
          <a:prstGeom prst="rect">
            <a:avLst/>
          </a:prstGeom>
          <a:solidFill>
            <a:srgbClr val="C847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80744"/>
            <a:ext cx="1645920" cy="20116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819" b="1">
                <a:solidFill>
                  <a:srgbClr val="5E6877"/>
                </a:solidFill>
              </a:defRPr>
            </a:pPr>
            <a:r>
              <a:t>Dummy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18488"/>
            <a:ext cx="1645920" cy="38404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2000" b="1">
                <a:solidFill>
                  <a:srgbClr val="161C27"/>
                </a:solidFill>
              </a:defRPr>
            </a:pPr>
            <a:r>
              <a:t>0.265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020824"/>
            <a:ext cx="1645920" cy="45719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919" b="0">
                <a:solidFill>
                  <a:srgbClr val="5E6877"/>
                </a:solidFill>
              </a:defRPr>
            </a:pPr>
            <a:r>
              <a:t>predice clase mayoritaria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88920" y="1234440"/>
            <a:ext cx="192024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88920" y="1234440"/>
            <a:ext cx="1920240" cy="73152"/>
          </a:xfrm>
          <a:prstGeom prst="rect">
            <a:avLst/>
          </a:prstGeom>
          <a:solidFill>
            <a:srgbClr val="235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26079" y="1380744"/>
            <a:ext cx="1645920" cy="20116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819" b="1">
                <a:solidFill>
                  <a:srgbClr val="5E6877"/>
                </a:solidFill>
              </a:defRPr>
            </a:pPr>
            <a:r>
              <a:t>Logistic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79" y="1618488"/>
            <a:ext cx="1645920" cy="38404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2000" b="1">
                <a:solidFill>
                  <a:srgbClr val="161C27"/>
                </a:solidFill>
              </a:defRPr>
            </a:pPr>
            <a:r>
              <a:t>0.663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79" y="2020824"/>
            <a:ext cx="1645920" cy="45719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919" b="0">
                <a:solidFill>
                  <a:srgbClr val="5E6877"/>
                </a:solidFill>
              </a:defRPr>
            </a:pPr>
            <a:r>
              <a:t>PR-AUC CV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37760" y="1234440"/>
            <a:ext cx="192024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37760" y="1234440"/>
            <a:ext cx="1920240" cy="73152"/>
          </a:xfrm>
          <a:prstGeom prst="rect">
            <a:avLst/>
          </a:prstGeom>
          <a:solidFill>
            <a:srgbClr val="3C9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74920" y="1380744"/>
            <a:ext cx="1645920" cy="20116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819" b="1">
                <a:solidFill>
                  <a:srgbClr val="5E6877"/>
                </a:solidFill>
              </a:defRPr>
            </a:pPr>
            <a:r>
              <a:t>Predictoras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618488"/>
            <a:ext cx="1645920" cy="38404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2000" b="1">
                <a:solidFill>
                  <a:srgbClr val="161C27"/>
                </a:solidFill>
              </a:defRPr>
            </a:pPr>
            <a:r>
              <a:t>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2020824"/>
            <a:ext cx="1645920" cy="45719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919" b="0">
                <a:solidFill>
                  <a:srgbClr val="5E6877"/>
                </a:solidFill>
              </a:defRPr>
            </a:pPr>
            <a:r>
              <a:t>variables originales + FE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86600" y="1234440"/>
            <a:ext cx="141732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086600" y="1234440"/>
            <a:ext cx="1417320" cy="73152"/>
          </a:xfrm>
          <a:prstGeom prst="rect">
            <a:avLst/>
          </a:prstGeom>
          <a:solidFill>
            <a:srgbClr val="E7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23760" y="1380744"/>
            <a:ext cx="1143000" cy="20116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819" b="1">
                <a:solidFill>
                  <a:srgbClr val="5E6877"/>
                </a:solidFill>
              </a:defRPr>
            </a:pPr>
            <a:r>
              <a:t>Logistic F2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1618488"/>
            <a:ext cx="1143000" cy="38404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2000" b="1">
                <a:solidFill>
                  <a:srgbClr val="161C27"/>
                </a:solidFill>
              </a:defRPr>
            </a:pPr>
            <a:r>
              <a:t>0.718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2020824"/>
            <a:ext cx="1143000" cy="45719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919" b="0">
                <a:solidFill>
                  <a:srgbClr val="5E6877"/>
                </a:solidFill>
              </a:defRPr>
            </a:pPr>
            <a:r>
              <a:t>baseline fuerte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2514600"/>
            <a:ext cx="7680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20">
                <a:solidFill>
                  <a:srgbClr val="161C27"/>
                </a:solidFill>
              </a:defRPr>
            </a:pPr>
            <a:r>
              <a:t>1. Dummy sirve como piso: si un modelo no supera la prevalencia en PR-AUC, no aporta informacion.</a:t>
            </a:r>
          </a:p>
          <a:p>
            <a:pPr>
              <a:spcAft>
                <a:spcPts val="500"/>
              </a:spcAft>
              <a:defRPr sz="1220">
                <a:solidFill>
                  <a:srgbClr val="161C27"/>
                </a:solidFill>
              </a:defRPr>
            </a:pPr>
            <a:r>
              <a:t>2. Regresion logistica es baseline real: simple, interpretable y rapida de entrenar.</a:t>
            </a:r>
          </a:p>
          <a:p>
            <a:pPr>
              <a:spcAft>
                <a:spcPts val="500"/>
              </a:spcAft>
              <a:defRPr sz="1220">
                <a:solidFill>
                  <a:srgbClr val="161C27"/>
                </a:solidFill>
              </a:defRPr>
            </a:pPr>
            <a:r>
              <a:t>3. Usa el mismo pipeline y las mismas variables que los modelos complejos, por eso la comparacion es justa.</a:t>
            </a:r>
          </a:p>
          <a:p>
            <a:pPr>
              <a:spcAft>
                <a:spcPts val="500"/>
              </a:spcAft>
              <a:defRPr sz="1220">
                <a:solidFill>
                  <a:srgbClr val="161C27"/>
                </a:solidFill>
              </a:defRPr>
            </a:pPr>
            <a:r>
              <a:t>4. Queda cerca del ganador, lo que muestra que el problema tiene senal clara y no depende solo de modelos sofisticados.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35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219456"/>
            <a:ext cx="2834640" cy="256032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850" b="1">
                <a:solidFill>
                  <a:srgbClr val="2356C2"/>
                </a:solidFill>
              </a:defRPr>
            </a:pPr>
            <a:r>
              <a:t>6 - SELECCION DE MODELOS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475488"/>
            <a:ext cx="8138160" cy="594360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2300" b="1">
                <a:solidFill>
                  <a:srgbClr val="161C27"/>
                </a:solidFill>
              </a:defRPr>
            </a:pPr>
            <a:r>
              <a:t>10 pruebas comparadas por PR-AUC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828032"/>
            <a:ext cx="4114800" cy="164592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750" b="0">
                <a:solidFill>
                  <a:srgbClr val="5E6877"/>
                </a:solidFill>
              </a:defRPr>
            </a:pPr>
            <a:r>
              <a:t>Churn Telco · Examen Final · 08</a:t>
            </a:r>
          </a:p>
        </p:txBody>
      </p:sp>
      <p:pic>
        <p:nvPicPr>
          <p:cNvPr id="7" name="Picture 6" descr="modelos_10_pra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24128"/>
            <a:ext cx="5349240" cy="30822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89320" y="1261872"/>
            <a:ext cx="274320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20">
                <a:solidFill>
                  <a:srgbClr val="161C27"/>
                </a:solidFill>
              </a:defRPr>
            </a:pPr>
            <a:r>
              <a:t>CatBoost queda primero por PR-AUC, pero la diferencia con Gradient Boosting y Logistic es chica.</a:t>
            </a:r>
          </a:p>
          <a:p>
            <a:pPr>
              <a:spcAft>
                <a:spcPts val="500"/>
              </a:spcAft>
              <a:defRPr sz="1120">
                <a:solidFill>
                  <a:srgbClr val="161C27"/>
                </a:solidFill>
              </a:defRPr>
            </a:pPr>
            <a:r>
              <a:t>Gradient Boosting clasico logra mayor precision, pero menor recall: es mas conservador.</a:t>
            </a:r>
          </a:p>
          <a:p>
            <a:pPr>
              <a:spcAft>
                <a:spcPts val="500"/>
              </a:spcAft>
              <a:defRPr sz="1120">
                <a:solidFill>
                  <a:srgbClr val="161C27"/>
                </a:solidFill>
              </a:defRPr>
            </a:pPr>
            <a:r>
              <a:t>Logistic Regression confirma una senal lineal fuerte y funciona como alternativa simple de defensa.</a:t>
            </a:r>
          </a:p>
          <a:p>
            <a:pPr>
              <a:spcAft>
                <a:spcPts val="500"/>
              </a:spcAft>
              <a:defRPr sz="1120">
                <a:solidFill>
                  <a:srgbClr val="161C27"/>
                </a:solidFill>
              </a:defRPr>
            </a:pPr>
            <a:r>
              <a:t>LightGBM fue probado; en esta grilla no supera a CatBoost ni a los baselines fuertes.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9320" y="4069080"/>
            <a:ext cx="2743200" cy="411480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950" b="0">
                <a:solidFill>
                  <a:srgbClr val="5E6877"/>
                </a:solidFill>
              </a:defRPr>
            </a:pPr>
            <a:r>
              <a:t>Conclusion: el ganador no se elige por marketing del algoritmo, sino por PR-AUC bajo la misma validacion.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35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219456"/>
            <a:ext cx="2834640" cy="256032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850" b="1">
                <a:solidFill>
                  <a:srgbClr val="2356C2"/>
                </a:solidFill>
              </a:defRPr>
            </a:pPr>
            <a:r>
              <a:t>7 - MODELO FINAL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475488"/>
            <a:ext cx="8138160" cy="594360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2300" b="1">
                <a:solidFill>
                  <a:srgbClr val="161C27"/>
                </a:solidFill>
              </a:defRPr>
            </a:pPr>
            <a:r>
              <a:t>CatBoost: buen ranking y umbral orientado a detectar churn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828032"/>
            <a:ext cx="4114800" cy="164592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750" b="0">
                <a:solidFill>
                  <a:srgbClr val="5E6877"/>
                </a:solidFill>
              </a:defRPr>
            </a:pPr>
            <a:r>
              <a:t>Churn Telco · Examen Final · 09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43000"/>
            <a:ext cx="1417320" cy="777240"/>
          </a:xfrm>
          <a:prstGeom prst="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143000"/>
            <a:ext cx="1417320" cy="73152"/>
          </a:xfrm>
          <a:prstGeom prst="rect">
            <a:avLst/>
          </a:prstGeom>
          <a:solidFill>
            <a:srgbClr val="E7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289304"/>
            <a:ext cx="1143000" cy="20116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819" b="1">
                <a:solidFill>
                  <a:srgbClr val="5E6877"/>
                </a:solidFill>
              </a:defRPr>
            </a:pPr>
            <a:r>
              <a:t>PR-AUC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527048"/>
            <a:ext cx="1143000" cy="38404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2000" b="1">
                <a:solidFill>
                  <a:srgbClr val="161C27"/>
                </a:solidFill>
              </a:defRPr>
            </a:pPr>
            <a:r>
              <a:t>0.664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929384"/>
            <a:ext cx="1143000" cy="-45720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919" b="0">
                <a:solidFill>
                  <a:srgbClr val="5E6877"/>
                </a:solidFill>
              </a:defRPr>
            </a:pPr>
            <a:r>
              <a:t>test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48840" y="1143000"/>
            <a:ext cx="1417320" cy="777240"/>
          </a:xfrm>
          <a:prstGeom prst="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148840" y="1143000"/>
            <a:ext cx="1417320" cy="73152"/>
          </a:xfrm>
          <a:prstGeom prst="rect">
            <a:avLst/>
          </a:prstGeom>
          <a:solidFill>
            <a:srgbClr val="3C9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86000" y="1289304"/>
            <a:ext cx="1143000" cy="20116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819" b="1">
                <a:solidFill>
                  <a:srgbClr val="5E6877"/>
                </a:solidFill>
              </a:defRPr>
            </a:pPr>
            <a:r>
              <a:t>Recall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1527048"/>
            <a:ext cx="1143000" cy="38404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2000" b="1">
                <a:solidFill>
                  <a:srgbClr val="161C27"/>
                </a:solidFill>
              </a:defRPr>
            </a:pPr>
            <a:r>
              <a:t>90.9%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1929384"/>
            <a:ext cx="1143000" cy="-45720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919" b="0">
                <a:solidFill>
                  <a:srgbClr val="5E6877"/>
                </a:solidFill>
              </a:defRPr>
            </a:pPr>
            <a:r>
              <a:t>test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49039" y="1143000"/>
            <a:ext cx="1417320" cy="777240"/>
          </a:xfrm>
          <a:prstGeom prst="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49039" y="1143000"/>
            <a:ext cx="1417320" cy="73152"/>
          </a:xfrm>
          <a:prstGeom prst="rect">
            <a:avLst/>
          </a:prstGeom>
          <a:solidFill>
            <a:srgbClr val="C847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86200" y="1289304"/>
            <a:ext cx="1143000" cy="20116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819" b="1">
                <a:solidFill>
                  <a:srgbClr val="5E6877"/>
                </a:solidFill>
              </a:defRPr>
            </a:pPr>
            <a:r>
              <a:t>Precision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86200" y="1527048"/>
            <a:ext cx="1143000" cy="38404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2000" b="1">
                <a:solidFill>
                  <a:srgbClr val="161C27"/>
                </a:solidFill>
              </a:defRPr>
            </a:pPr>
            <a:r>
              <a:t>42.4%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29384"/>
            <a:ext cx="1143000" cy="-45720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919" b="0">
                <a:solidFill>
                  <a:srgbClr val="5E6877"/>
                </a:solidFill>
              </a:defRPr>
            </a:pPr>
            <a:r>
              <a:t>test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49240" y="1143000"/>
            <a:ext cx="1417320" cy="777240"/>
          </a:xfrm>
          <a:prstGeom prst="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349240" y="1143000"/>
            <a:ext cx="1417320" cy="73152"/>
          </a:xfrm>
          <a:prstGeom prst="rect">
            <a:avLst/>
          </a:prstGeom>
          <a:solidFill>
            <a:srgbClr val="235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0" y="1289304"/>
            <a:ext cx="1143000" cy="20116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819" b="1">
                <a:solidFill>
                  <a:srgbClr val="5E6877"/>
                </a:solidFill>
              </a:defRPr>
            </a:pPr>
            <a:r>
              <a:t>F2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1527048"/>
            <a:ext cx="1143000" cy="38404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2000" b="1">
                <a:solidFill>
                  <a:srgbClr val="161C27"/>
                </a:solidFill>
              </a:defRPr>
            </a:pPr>
            <a:r>
              <a:t>0.740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1929384"/>
            <a:ext cx="1143000" cy="-45720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919" b="0">
                <a:solidFill>
                  <a:srgbClr val="5E6877"/>
                </a:solidFill>
              </a:defRPr>
            </a:pPr>
            <a:r>
              <a:t>umbral 0.31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49440" y="1143000"/>
            <a:ext cx="1417320" cy="777240"/>
          </a:xfrm>
          <a:prstGeom prst="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949440" y="1143000"/>
            <a:ext cx="1417320" cy="73152"/>
          </a:xfrm>
          <a:prstGeom prst="rect">
            <a:avLst/>
          </a:prstGeom>
          <a:solidFill>
            <a:srgbClr val="685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86600" y="1289304"/>
            <a:ext cx="1143000" cy="20116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819" b="1">
                <a:solidFill>
                  <a:srgbClr val="5E6877"/>
                </a:solidFill>
              </a:defRPr>
            </a:pPr>
            <a:r>
              <a:t>Accionados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1527048"/>
            <a:ext cx="1143000" cy="38404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2000" b="1">
                <a:solidFill>
                  <a:srgbClr val="161C27"/>
                </a:solidFill>
              </a:defRPr>
            </a:pPr>
            <a:r>
              <a:t>56.8%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1929384"/>
            <a:ext cx="1143000" cy="-45720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919" b="0">
                <a:solidFill>
                  <a:srgbClr val="5E6877"/>
                </a:solidFill>
              </a:defRPr>
            </a:pPr>
            <a:r>
              <a:t>del test</a:t>
            </a:r>
          </a:p>
        </p:txBody>
      </p:sp>
      <p:pic>
        <p:nvPicPr>
          <p:cNvPr id="32" name="Picture 31" descr="threshold_precision_rec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240280"/>
            <a:ext cx="4434840" cy="2296665"/>
          </a:xfrm>
          <a:prstGeom prst="rect">
            <a:avLst/>
          </a:prstGeom>
        </p:spPr>
      </p:pic>
      <p:pic>
        <p:nvPicPr>
          <p:cNvPr id="33" name="Picture 32" descr="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2057400"/>
            <a:ext cx="2788920" cy="2209552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749808" y="4462272"/>
            <a:ext cx="7589520" cy="29260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950" b="0">
                <a:solidFill>
                  <a:srgbClr val="5E6877"/>
                </a:solidFill>
              </a:defRPr>
            </a:pPr>
            <a:r>
              <a:t>El umbral 0.31 prioriza recall: captura gran parte de los churners, a costa de falsos positivos. En negocio real, el corte deberia ajustarse por costo/capacidad.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35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219456"/>
            <a:ext cx="2834640" cy="256032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850" b="1">
                <a:solidFill>
                  <a:srgbClr val="2356C2"/>
                </a:solidFill>
              </a:defRPr>
            </a:pPr>
            <a:r>
              <a:t>7 - MODELO FINAL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475488"/>
            <a:ext cx="8138160" cy="594360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2300" b="1">
                <a:solidFill>
                  <a:srgbClr val="161C27"/>
                </a:solidFill>
              </a:defRPr>
            </a:pPr>
            <a:r>
              <a:t>Interpretacion: consistente con el EDA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828032"/>
            <a:ext cx="4114800" cy="164592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750" b="0">
                <a:solidFill>
                  <a:srgbClr val="5E6877"/>
                </a:solidFill>
              </a:defRPr>
            </a:pPr>
            <a:r>
              <a:t>Churn Telco · Examen Final · 10</a:t>
            </a:r>
          </a:p>
        </p:txBody>
      </p:sp>
      <p:pic>
        <p:nvPicPr>
          <p:cNvPr id="7" name="Picture 6" descr="importance_permu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78992"/>
            <a:ext cx="4251960" cy="2572392"/>
          </a:xfrm>
          <a:prstGeom prst="rect">
            <a:avLst/>
          </a:prstGeom>
        </p:spPr>
      </p:pic>
      <p:pic>
        <p:nvPicPr>
          <p:cNvPr id="8" name="Picture 7" descr="importance_sh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1078992"/>
            <a:ext cx="4160520" cy="25170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70832"/>
            <a:ext cx="7543800" cy="438912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 algn="ctr">
              <a:defRPr sz="1050" b="0">
                <a:solidFill>
                  <a:srgbClr val="5E6877"/>
                </a:solidFill>
              </a:defRPr>
            </a:pPr>
            <a:r>
              <a:t>Conclusion: contrato mensual, baja antiguedad, cargos acumulados y senales de soporte/seguridad vuelven a aparecer como drivers predictivos. Esto coincide con el EDA, pero no implica causalidad.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35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219456"/>
            <a:ext cx="2834640" cy="256032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850" b="1">
                <a:solidFill>
                  <a:srgbClr val="2356C2"/>
                </a:solidFill>
              </a:defRPr>
            </a:pPr>
            <a:r>
              <a:t>8 - LIMITACIONES / MEJORAS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475488"/>
            <a:ext cx="8138160" cy="594360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2300" b="1">
                <a:solidFill>
                  <a:srgbClr val="161C27"/>
                </a:solidFill>
              </a:defRPr>
            </a:pPr>
            <a:r>
              <a:t>Que falta para llevarlo a una decision productiva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828032"/>
            <a:ext cx="4114800" cy="164592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750" b="0">
                <a:solidFill>
                  <a:srgbClr val="5E6877"/>
                </a:solidFill>
              </a:defRPr>
            </a:pPr>
            <a:r>
              <a:t>Churn Telco · Examen Final ·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234440"/>
            <a:ext cx="3474720" cy="274320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1600" b="1">
                <a:solidFill>
                  <a:srgbClr val="161C27"/>
                </a:solidFill>
              </a:defRPr>
            </a:pPr>
            <a:r>
              <a:t>Limitaciones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64208"/>
            <a:ext cx="365760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161C27"/>
                </a:solidFill>
              </a:defRPr>
            </a:pPr>
            <a:r>
              <a:t>Dataset sin dimension temporal: no simula pasado a futuro.</a:t>
            </a:r>
          </a:p>
          <a:p>
            <a:pPr>
              <a:spcAft>
                <a:spcPts val="500"/>
              </a:spcAft>
              <a:defRPr sz="1150">
                <a:solidFill>
                  <a:srgbClr val="161C27"/>
                </a:solidFill>
              </a:defRPr>
            </a:pPr>
            <a:r>
              <a:t>No hay costos reales de contacto, oferta ni perdida de cliente.</a:t>
            </a:r>
          </a:p>
          <a:p>
            <a:pPr>
              <a:spcAft>
                <a:spcPts val="500"/>
              </a:spcAft>
              <a:defRPr sz="1150">
                <a:solidFill>
                  <a:srgbClr val="161C27"/>
                </a:solidFill>
              </a:defRPr>
            </a:pPr>
            <a:r>
              <a:t>Precision moderada: muchas acciones comerciales no terminarian en churn real.</a:t>
            </a:r>
          </a:p>
          <a:p>
            <a:pPr>
              <a:spcAft>
                <a:spcPts val="500"/>
              </a:spcAft>
              <a:defRPr sz="1150">
                <a:solidFill>
                  <a:srgbClr val="161C27"/>
                </a:solidFill>
              </a:defRPr>
            </a:pPr>
            <a:r>
              <a:t>Variables redundantes entre originales y derivadas pueden repartir importancia.</a:t>
            </a:r>
          </a:p>
          <a:p>
            <a:pPr>
              <a:spcAft>
                <a:spcPts val="500"/>
              </a:spcAft>
              <a:defRPr sz="1150">
                <a:solidFill>
                  <a:srgbClr val="161C27"/>
                </a:solidFill>
              </a:defRPr>
            </a:pPr>
            <a:r>
              <a:t>No hay datos de reclamos, uso, satisfaccion ni competencia.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1234440"/>
            <a:ext cx="3474720" cy="274320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1600" b="1">
                <a:solidFill>
                  <a:srgbClr val="161C27"/>
                </a:solidFill>
              </a:defRPr>
            </a:pPr>
            <a:r>
              <a:t>Posibles mejoras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1664208"/>
            <a:ext cx="365760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161C27"/>
                </a:solidFill>
              </a:defRPr>
            </a:pPr>
            <a:r>
              <a:t>Validar con meses futuros y monitorear drift.</a:t>
            </a:r>
          </a:p>
          <a:p>
            <a:pPr>
              <a:spcAft>
                <a:spcPts val="500"/>
              </a:spcAft>
              <a:defRPr sz="1150">
                <a:solidFill>
                  <a:srgbClr val="161C27"/>
                </a:solidFill>
              </a:defRPr>
            </a:pPr>
            <a:r>
              <a:t>Elegir umbral por valor esperado: probabilidad x valor cliente x efectividad x costo.</a:t>
            </a:r>
          </a:p>
          <a:p>
            <a:pPr>
              <a:spcAft>
                <a:spcPts val="500"/>
              </a:spcAft>
              <a:defRPr sz="1150">
                <a:solidFill>
                  <a:srgbClr val="161C27"/>
                </a:solidFill>
              </a:defRPr>
            </a:pPr>
            <a:r>
              <a:t>Agregar tickets, NPS, uso de servicio, promociones y cambios de plan.</a:t>
            </a:r>
          </a:p>
          <a:p>
            <a:pPr>
              <a:spcAft>
                <a:spcPts val="500"/>
              </a:spcAft>
              <a:defRPr sz="1150">
                <a:solidFill>
                  <a:srgbClr val="161C27"/>
                </a:solidFill>
              </a:defRPr>
            </a:pPr>
            <a:r>
              <a:t>Calibrar probabilidades si el score se usa como ranking economico.</a:t>
            </a:r>
          </a:p>
          <a:p>
            <a:pPr>
              <a:spcAft>
                <a:spcPts val="500"/>
              </a:spcAft>
              <a:defRPr sz="1150">
                <a:solidFill>
                  <a:srgbClr val="161C27"/>
                </a:solidFill>
              </a:defRPr>
            </a:pPr>
            <a:r>
              <a:t>Probar uplift modeling para contactar clientes persuadibles.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35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219456"/>
            <a:ext cx="2834640" cy="256032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850" b="1">
                <a:solidFill>
                  <a:srgbClr val="2356C2"/>
                </a:solidFill>
              </a:defRPr>
            </a:pPr>
            <a:r>
              <a:t>9 - CONCLUSIONES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475488"/>
            <a:ext cx="8138160" cy="594360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2300" b="1">
                <a:solidFill>
                  <a:srgbClr val="161C27"/>
                </a:solidFill>
              </a:defRPr>
            </a:pPr>
            <a:r>
              <a:t>Un ranking accionable para priorizar retencion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4828032"/>
            <a:ext cx="4114800" cy="164592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750" b="0">
                <a:solidFill>
                  <a:srgbClr val="5E6877"/>
                </a:solidFill>
              </a:defRPr>
            </a:pPr>
            <a:r>
              <a:t>Churn Telco · Examen Final · 12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143000"/>
            <a:ext cx="182880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143000"/>
            <a:ext cx="1828800" cy="73152"/>
          </a:xfrm>
          <a:prstGeom prst="rect">
            <a:avLst/>
          </a:prstGeom>
          <a:solidFill>
            <a:srgbClr val="E7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289304"/>
            <a:ext cx="1554480" cy="20116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819" b="1">
                <a:solidFill>
                  <a:srgbClr val="5E6877"/>
                </a:solidFill>
              </a:defRPr>
            </a:pPr>
            <a:r>
              <a:t>Mejor modelo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527048"/>
            <a:ext cx="1554480" cy="38404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2000" b="1">
                <a:solidFill>
                  <a:srgbClr val="161C27"/>
                </a:solidFill>
              </a:defRPr>
            </a:pPr>
            <a:r>
              <a:t>CatBoost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929384"/>
            <a:ext cx="1554480" cy="45719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919" b="0">
                <a:solidFill>
                  <a:srgbClr val="5E6877"/>
                </a:solidFill>
              </a:defRPr>
            </a:pPr>
            <a:r>
              <a:t>mejor PR-AUC en CV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0" y="1143000"/>
            <a:ext cx="164592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0" y="1143000"/>
            <a:ext cx="1645920" cy="73152"/>
          </a:xfrm>
          <a:prstGeom prst="rect">
            <a:avLst/>
          </a:prstGeom>
          <a:solidFill>
            <a:srgbClr val="235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80360" y="1289304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819" b="1">
                <a:solidFill>
                  <a:srgbClr val="5E6877"/>
                </a:solidFill>
              </a:defRPr>
            </a:pPr>
            <a:r>
              <a:t>PR-AUC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1527048"/>
            <a:ext cx="1371600" cy="38404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2000" b="1">
                <a:solidFill>
                  <a:srgbClr val="161C27"/>
                </a:solidFill>
              </a:defRPr>
            </a:pPr>
            <a:r>
              <a:t>0.664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1929384"/>
            <a:ext cx="1371600" cy="45719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919" b="0">
                <a:solidFill>
                  <a:srgbClr val="5E6877"/>
                </a:solidFill>
              </a:defRPr>
            </a:pPr>
            <a:r>
              <a:t>ranking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63440" y="1143000"/>
            <a:ext cx="164592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63440" y="1143000"/>
            <a:ext cx="1645920" cy="73152"/>
          </a:xfrm>
          <a:prstGeom prst="rect">
            <a:avLst/>
          </a:prstGeom>
          <a:solidFill>
            <a:srgbClr val="3C9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0600" y="1289304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819" b="1">
                <a:solidFill>
                  <a:srgbClr val="5E6877"/>
                </a:solidFill>
              </a:defRPr>
            </a:pPr>
            <a:r>
              <a:t>Recall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1527048"/>
            <a:ext cx="1371600" cy="38404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2000" b="1">
                <a:solidFill>
                  <a:srgbClr val="161C27"/>
                </a:solidFill>
              </a:defRPr>
            </a:pPr>
            <a:r>
              <a:t>90.9%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00600" y="1929384"/>
            <a:ext cx="1371600" cy="45719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919" b="0">
                <a:solidFill>
                  <a:srgbClr val="5E6877"/>
                </a:solidFill>
              </a:defRPr>
            </a:pPr>
            <a:r>
              <a:t>churn detectado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1143000"/>
            <a:ext cx="164592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0" y="1143000"/>
            <a:ext cx="1645920" cy="73152"/>
          </a:xfrm>
          <a:prstGeom prst="rect">
            <a:avLst/>
          </a:prstGeom>
          <a:solidFill>
            <a:srgbClr val="C847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20840" y="1289304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819" b="1">
                <a:solidFill>
                  <a:srgbClr val="5E6877"/>
                </a:solidFill>
              </a:defRPr>
            </a:pPr>
            <a:r>
              <a:t>Precision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1527048"/>
            <a:ext cx="1371600" cy="384048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2000" b="1">
                <a:solidFill>
                  <a:srgbClr val="161C27"/>
                </a:solidFill>
              </a:defRPr>
            </a:pPr>
            <a:r>
              <a:t>42.4%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1929384"/>
            <a:ext cx="1371600" cy="45719"/>
          </a:xfrm>
          <a:prstGeom prst="rect">
            <a:avLst/>
          </a:prstGeom>
          <a:noFill/>
        </p:spPr>
        <p:txBody>
          <a:bodyPr wrap="square" lIns="27432" rIns="27432" tIns="9144">
            <a:spAutoFit/>
          </a:bodyPr>
          <a:lstStyle/>
          <a:p>
            <a:pPr>
              <a:defRPr sz="919" b="0">
                <a:solidFill>
                  <a:srgbClr val="5E6877"/>
                </a:solidFill>
              </a:defRPr>
            </a:pPr>
            <a:r>
              <a:t>contactos utiles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606040"/>
            <a:ext cx="749807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61C27"/>
                </a:solidFill>
              </a:defRPr>
            </a:pPr>
            <a:r>
              <a:t>El modelo permite ordenar clientes por riesgo y priorizar una agenda de retencion.</a:t>
            </a:r>
          </a:p>
          <a:p>
            <a:pPr>
              <a:spcAft>
                <a:spcPts val="500"/>
              </a:spcAft>
              <a:defRPr sz="1300">
                <a:solidFill>
                  <a:srgbClr val="161C27"/>
                </a:solidFill>
              </a:defRPr>
            </a:pPr>
            <a:r>
              <a:t>Los perfiles de mayor riesgo combinan contrato mensual, baja antiguedad y menor anclaje de servicios.</a:t>
            </a:r>
          </a:p>
          <a:p>
            <a:pPr>
              <a:spcAft>
                <a:spcPts val="500"/>
              </a:spcAft>
              <a:defRPr sz="1300">
                <a:solidFill>
                  <a:srgbClr val="161C27"/>
                </a:solidFill>
              </a:defRPr>
            </a:pPr>
            <a:r>
              <a:t>Accion sugerida: contactar primero clientes de alto score con propuestas de permanencia, soporte o beneficios segun valor del cliente.</a:t>
            </a:r>
          </a:p>
          <a:p>
            <a:pPr>
              <a:spcAft>
                <a:spcPts val="500"/>
              </a:spcAft>
              <a:defRPr sz="1300">
                <a:solidFill>
                  <a:srgbClr val="161C27"/>
                </a:solidFill>
              </a:defRPr>
            </a:pPr>
            <a:r>
              <a:t>Antes de produccion: definir costo de accion, capacidad del equipo y umbral por rentabilidad esperada.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