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0" r:id="rId21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99855" y="3566160"/>
            <a:ext cx="4754880" cy="4754880"/>
          </a:xfrm>
          <a:prstGeom prst="ellipse">
            <a:avLst/>
          </a:prstGeom>
          <a:solidFill>
            <a:srgbClr val="22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59975" y="4526280"/>
            <a:ext cx="2834640" cy="283464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371600"/>
            <a:ext cx="566928" cy="100584"/>
          </a:xfrm>
          <a:prstGeom prst="rect">
            <a:avLst/>
          </a:prstGeom>
          <a:solidFill>
            <a:srgbClr val="E862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868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200">
                <a:solidFill>
                  <a:srgbClr val="AFBCD4"/>
                </a:solidFill>
                <a:latin typeface="Segoe UI Semibold"/>
              </a:rPr>
              <a:t>ANALÍTICA PREDICTIVA  ·  EXAMEN FINAL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Segoe UI Semibold"/>
              </a:rPr>
              <a:t>Predicción de churn
en clientes Telco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0332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AFBCD4"/>
                </a:solidFill>
                <a:latin typeface="Segoe UI"/>
              </a:rPr>
              <a:t>De un problema de negocio a un ranking accionable para priorizar la retención.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97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Segoe UI Semibold"/>
              </a:rPr>
              <a:t>Matías Goldschmidt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01 · CASO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Del problema de negocio al objetivo predictivo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01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38528"/>
            <a:ext cx="4983480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38528"/>
            <a:ext cx="91440" cy="2999232"/>
          </a:xfrm>
          <a:prstGeom prst="rect">
            <a:avLst/>
          </a:prstGeom>
          <a:solidFill>
            <a:srgbClr val="E6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2359152"/>
            <a:ext cx="1417320" cy="347472"/>
          </a:xfrm>
          <a:prstGeom prst="roundRect">
            <a:avLst/>
          </a:prstGeom>
          <a:solidFill>
            <a:srgbClr val="E6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2423160"/>
            <a:ext cx="127101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PROBLEMA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880360"/>
            <a:ext cx="4343400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200" b="1">
                <a:solidFill>
                  <a:srgbClr val="0D1F38"/>
                </a:solidFill>
                <a:latin typeface="Aptos"/>
              </a:defRPr>
            </a:pPr>
            <a:r>
              <a:t>La empresa pierde ingreso recurrente cuando un cliente abandona el servicio.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77639"/>
            <a:ext cx="4251960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00" b="0">
                <a:solidFill>
                  <a:srgbClr val="53657A"/>
                </a:solidFill>
                <a:latin typeface="Aptos"/>
              </a:defRPr>
            </a:pPr>
            <a:r>
              <a:t>Sin una priorización, retención distribuye tiempo y beneficios entre clientes con riesgos muy distintos.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938528"/>
            <a:ext cx="5202936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938528"/>
            <a:ext cx="91440" cy="2999232"/>
          </a:xfrm>
          <a:prstGeom prst="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46520" y="2359152"/>
            <a:ext cx="2148840" cy="347472"/>
          </a:xfrm>
          <a:prstGeom prst="round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423160"/>
            <a:ext cx="200253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OBJETIVO DEL MODELO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80360"/>
            <a:ext cx="4526280" cy="868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200" b="1">
                <a:solidFill>
                  <a:srgbClr val="0D1F38"/>
                </a:solidFill>
                <a:latin typeface="Aptos"/>
              </a:defRPr>
            </a:pPr>
            <a:r>
              <a:t>Estimar la probabilidad de churn de cada cliente activo.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77639"/>
            <a:ext cx="4480560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00" b="0">
                <a:solidFill>
                  <a:srgbClr val="53657A"/>
                </a:solidFill>
                <a:latin typeface="Aptos"/>
              </a:defRPr>
            </a:pPr>
            <a:r>
              <a:t>El resultado es un ranking de riesgo para decidir a quién contactar primero; la oferta y el corte final dependen del costo y la capacidad comercial.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193792"/>
            <a:ext cx="12344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300" b="0">
                <a:solidFill>
                  <a:srgbClr val="0D1F38"/>
                </a:solidFill>
                <a:latin typeface="Aptos"/>
              </a:defRPr>
            </a:pPr>
            <a:r>
              <a:t>7.043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586984"/>
            <a:ext cx="1691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50" b="1">
                <a:solidFill>
                  <a:srgbClr val="53657A"/>
                </a:solidFill>
                <a:latin typeface="Aptos"/>
              </a:defRPr>
            </a:pPr>
            <a:r>
              <a:t>CLIENTES · base analizada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5212080"/>
            <a:ext cx="13716" cy="658368"/>
          </a:xfrm>
          <a:prstGeom prst="rect">
            <a:avLst/>
          </a:prstGeom>
          <a:solidFill>
            <a:srgbClr val="D8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07792" y="5193792"/>
            <a:ext cx="12344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300" b="0">
                <a:solidFill>
                  <a:srgbClr val="E67E37"/>
                </a:solidFill>
                <a:latin typeface="Aptos"/>
              </a:defRPr>
            </a:pPr>
            <a:r>
              <a:t>26,5%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5586984"/>
            <a:ext cx="169164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850" b="1">
                <a:solidFill>
                  <a:srgbClr val="53657A"/>
                </a:solidFill>
                <a:latin typeface="Aptos"/>
              </a:defRPr>
            </a:pPr>
            <a:r>
              <a:t>CHURN · 1.869 bajas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5202936"/>
            <a:ext cx="27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700" b="1">
                <a:solidFill>
                  <a:srgbClr val="E67E37"/>
                </a:solidFill>
                <a:latin typeface="Aptos"/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5184648"/>
            <a:ext cx="571500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350" b="0">
                <a:solidFill>
                  <a:srgbClr val="0D1F38"/>
                </a:solidFill>
                <a:latin typeface="Aptos"/>
              </a:defRPr>
            </a:pPr>
            <a:r>
              <a:t>Retener cuesta entre 5 y 25 veces menos que captar un cliente nuevo.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02 ·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21 columnas: 19 predictoras agrupadas en 4 familias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02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286000"/>
            <a:ext cx="248716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7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286000"/>
            <a:ext cx="2487168" cy="128016"/>
          </a:xfrm>
          <a:prstGeom prst="roundRect">
            <a:avLst>
              <a:gd name="adj" fmla="val 3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70048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53B"/>
                </a:solidFill>
                <a:latin typeface="Segoe UI Semibold"/>
              </a:rPr>
              <a:t>Demográficas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6BE6"/>
                </a:solidFill>
                <a:latin typeface="Segoe UI Semibold"/>
              </a:rPr>
              <a:t>4 vars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A7385"/>
                </a:solidFill>
                <a:latin typeface="Segoe UI"/>
              </a:rPr>
              <a:t>Género, adulto mayor, pareja y dependientes.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4340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6BE6"/>
                </a:solidFill>
                <a:latin typeface="Segoe UI Semibold"/>
              </a:rPr>
              <a:t>Asociación débil con el churn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5258" y="2286000"/>
            <a:ext cx="248716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7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15258" y="2286000"/>
            <a:ext cx="2487168" cy="128016"/>
          </a:xfrm>
          <a:prstGeom prst="roundRect">
            <a:avLst>
              <a:gd name="adj" fmla="val 30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71290" y="2670048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53B"/>
                </a:solidFill>
                <a:latin typeface="Segoe UI Semibold"/>
              </a:rPr>
              <a:t>Servicios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290" y="3063240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A9D8F"/>
                </a:solidFill>
                <a:latin typeface="Segoe UI Semibold"/>
              </a:rPr>
              <a:t>9 vars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1290" y="3474720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40" b="0">
                <a:solidFill>
                  <a:srgbClr val="6A7385"/>
                </a:solidFill>
                <a:latin typeface="Segoe UI"/>
              </a:rPr>
              <a:t>Telefonía y líneas múltiples.
Internet y seguridad online.
Backup y protección del dispositivo.
Soporte técnico, TV y películas.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1290" y="434340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A9D8F"/>
                </a:solidFill>
                <a:latin typeface="Segoe UI Semibold"/>
              </a:rPr>
              <a:t>Asociación moderada con el churn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9268" y="2286000"/>
            <a:ext cx="248716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7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89268" y="2286000"/>
            <a:ext cx="2487168" cy="128016"/>
          </a:xfrm>
          <a:prstGeom prst="roundRect">
            <a:avLst>
              <a:gd name="adj" fmla="val 30000"/>
            </a:avLst>
          </a:prstGeom>
          <a:solidFill>
            <a:srgbClr val="E862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5300" y="2670048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53B"/>
                </a:solidFill>
                <a:latin typeface="Segoe UI Semibold"/>
              </a:rPr>
              <a:t>Contrato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5300" y="3063240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6243"/>
                </a:solidFill>
                <a:latin typeface="Segoe UI Semibold"/>
              </a:rPr>
              <a:t>2 vars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5300" y="3474720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A7385"/>
                </a:solidFill>
                <a:latin typeface="Segoe UI"/>
              </a:rPr>
              <a:t>Tipo de contrato y antigüedad.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5300" y="434340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86243"/>
                </a:solidFill>
                <a:latin typeface="Segoe UI Semibold"/>
              </a:rPr>
              <a:t>Asociación muy fuerte con el churn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3279" y="2286000"/>
            <a:ext cx="2487168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7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63279" y="2286000"/>
            <a:ext cx="2487168" cy="128016"/>
          </a:xfrm>
          <a:prstGeom prst="roundRect">
            <a:avLst>
              <a:gd name="adj" fmla="val 30000"/>
            </a:avLst>
          </a:prstGeom>
          <a:solidFill>
            <a:srgbClr val="E0A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19311" y="2670048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B253B"/>
                </a:solidFill>
                <a:latin typeface="Segoe UI Semibold"/>
              </a:rPr>
              <a:t>Facturación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9311" y="3063240"/>
            <a:ext cx="2029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0A43B"/>
                </a:solidFill>
                <a:latin typeface="Segoe UI Semibold"/>
              </a:rPr>
              <a:t>4 vars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9311" y="3474720"/>
            <a:ext cx="202996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70" b="0">
                <a:solidFill>
                  <a:srgbClr val="6A7385"/>
                </a:solidFill>
                <a:latin typeface="Segoe UI"/>
              </a:rPr>
              <a:t>Facturación digital, método de pago, cargo mensual y cargos totales.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19311" y="4343400"/>
            <a:ext cx="20299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E0A43B"/>
                </a:solidFill>
                <a:latin typeface="Segoe UI Semibold"/>
              </a:rPr>
              <a:t>Asociación moderada con el churn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257800"/>
            <a:ext cx="105091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243"/>
                </a:solidFill>
                <a:latin typeface="Segoe UI Semibold"/>
              </a:rPr>
              <a:t>Limpieza:  </a:t>
            </a:r>
            <a:r>
              <a:rPr sz="1500" b="0">
                <a:solidFill>
                  <a:srgbClr val="6A7385"/>
                </a:solidFill>
                <a:latin typeface="Segoe UI"/>
              </a:rPr>
              <a:t>los 11 vacíos de TotalCharges eran clientes nuevos (antigüedad = 0) → se imputaron en 0. Sin filas duplicadas.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EXTRA ·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Variables nuevas: cómo se construyen y qué resumen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03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93392"/>
            <a:ext cx="49834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93392"/>
            <a:ext cx="91440" cy="2057400"/>
          </a:xfrm>
          <a:prstGeom prst="rect">
            <a:avLst/>
          </a:prstGeom>
          <a:solidFill>
            <a:srgbClr val="E6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" y="2267712"/>
            <a:ext cx="1783080" cy="347472"/>
          </a:xfrm>
          <a:prstGeom prst="roundRect">
            <a:avLst/>
          </a:prstGeom>
          <a:solidFill>
            <a:srgbClr val="E6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31720"/>
            <a:ext cx="163677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VARIABLE CREADA #1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24912"/>
            <a:ext cx="429768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100" b="1">
                <a:solidFill>
                  <a:srgbClr val="0D1F38"/>
                </a:solidFill>
                <a:latin typeface="Aptos"/>
              </a:defRPr>
            </a:pPr>
            <a:r>
              <a:t>Contrato mensual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182112"/>
            <a:ext cx="434340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00" b="0">
                <a:solidFill>
                  <a:srgbClr val="53657A"/>
                </a:solidFill>
                <a:latin typeface="Aptos"/>
              </a:defRPr>
            </a:pPr>
            <a:r>
              <a:rPr sz="1400"/>
              <a:t>is_month_to_month = 1 si el tipo de contrato es mensual; 0 si es anual o bianual.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993392"/>
            <a:ext cx="5202936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993392"/>
            <a:ext cx="91440" cy="2057400"/>
          </a:xfrm>
          <a:prstGeom prst="rect">
            <a:avLst/>
          </a:prstGeom>
          <a:solidFill>
            <a:srgbClr val="169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9088" y="2267712"/>
            <a:ext cx="1783080" cy="347472"/>
          </a:xfrm>
          <a:prstGeom prst="roundRect">
            <a:avLst/>
          </a:prstGeom>
          <a:solidFill>
            <a:srgbClr val="169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163677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VARIABLE CREADA #2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24912"/>
            <a:ext cx="43891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100" b="1">
                <a:solidFill>
                  <a:srgbClr val="0D1F38"/>
                </a:solidFill>
                <a:latin typeface="Aptos"/>
              </a:defRPr>
            </a:pPr>
            <a:r>
              <a:t>Fibra óptica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182112"/>
            <a:ext cx="438912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00" b="0">
                <a:solidFill>
                  <a:srgbClr val="53657A"/>
                </a:solidFill>
                <a:latin typeface="Aptos"/>
              </a:defRPr>
            </a:pPr>
            <a:r>
              <a:rPr sz="1400"/>
              <a:t>has_fiber_optic = 1 si el servicio de internet es fibra óptica; 0 para DSL o sin internet.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315968"/>
            <a:ext cx="10506456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" y="4315968"/>
            <a:ext cx="91440" cy="1298448"/>
          </a:xfrm>
          <a:prstGeom prst="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4572000"/>
            <a:ext cx="21488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1D5BA6"/>
                </a:solidFill>
                <a:latin typeface="Aptos"/>
              </a:defRPr>
            </a:pPr>
            <a:r>
              <a:t>OTRAS VARIABLES DERIVADAS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4937760"/>
            <a:ext cx="97383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00" b="0">
                <a:solidFill>
                  <a:srgbClr val="18263A"/>
                </a:solidFill>
                <a:latin typeface="Aptos"/>
              </a:defRPr>
            </a:pPr>
            <a:r>
              <a:t>Antigüedad en 5 tramos  ·  gasto histórico mensual y brecha de cargos  ·  conteos de soporte, streaming y servicios  ·  señales de pago digital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358384"/>
            <a:ext cx="9738360" cy="2377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00" b="0">
                <a:solidFill>
                  <a:srgbClr val="53657A"/>
                </a:solidFill>
                <a:latin typeface="Aptos"/>
              </a:defRPr>
            </a:pPr>
            <a:r>
              <a:t>Estas features no agregan información futura: reorganizan datos disponibles al momento de predecir.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03 · ANÁLISIS EXPLORATORIO (EDA)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Principales hallazgos del EDA respecto del churn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04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2057400"/>
            <a:ext cx="3621024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2057400"/>
            <a:ext cx="91440" cy="3611880"/>
          </a:xfrm>
          <a:prstGeom prst="rect">
            <a:avLst/>
          </a:prstGeom>
          <a:solidFill>
            <a:srgbClr val="E6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2359152"/>
            <a:ext cx="13716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E67E37"/>
                </a:solidFill>
                <a:latin typeface="Aptos"/>
              </a:defRPr>
            </a:pPr>
            <a:r>
              <a:t>LECTURA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743200"/>
            <a:ext cx="297180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8263A"/>
                </a:solidFill>
                <a:latin typeface="Aptos"/>
              </a:defRPr>
            </a:pPr>
            <a:r>
              <a:t>—  Cheque electrónico y contrato mensual concentran tasas cercanas al 45%.</a:t>
            </a:r>
          </a:p>
          <a:p>
            <a:pPr>
              <a:spcAft>
                <a:spcPts val="600"/>
              </a:spcAft>
              <a:defRPr sz="1300">
                <a:solidFill>
                  <a:srgbClr val="18263A"/>
                </a:solidFill>
                <a:latin typeface="Aptos"/>
              </a:defRPr>
            </a:pPr>
            <a:r>
              <a:t>—  Fibra y ausencia de soporte o seguridad superan la media general.</a:t>
            </a:r>
          </a:p>
          <a:p>
            <a:pPr>
              <a:spcAft>
                <a:spcPts val="600"/>
              </a:spcAft>
              <a:defRPr sz="1300">
                <a:solidFill>
                  <a:srgbClr val="18263A"/>
                </a:solidFill>
                <a:latin typeface="Aptos"/>
              </a:defRPr>
            </a:pPr>
            <a:r>
              <a:t>—  El contrato a 2 años presenta el churn más bajo: 2,8%.</a:t>
            </a:r>
          </a:p>
          <a:p>
            <a:pPr>
              <a:spcAft>
                <a:spcPts val="600"/>
              </a:spcAft>
              <a:defRPr sz="1300">
                <a:solidFill>
                  <a:srgbClr val="18263A"/>
                </a:solidFill>
                <a:latin typeface="Aptos"/>
              </a:defRPr>
            </a:pPr>
            <a:r>
              <a:t>—  Son asociaciones; orientan hipótesis, no prueban causalidad.</a:t>
            </a:r>
          </a:p>
        </p:txBody>
      </p:sp>
      <p:pic>
        <p:nvPicPr>
          <p:cNvPr id="13" name="Picture 12" descr="eda_principales_hallazg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011680"/>
            <a:ext cx="6995160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04 ·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Con clases desbalanceadas: PR-AUC compara y F2 define el corte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05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93392"/>
            <a:ext cx="49834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93392"/>
            <a:ext cx="91440" cy="3429000"/>
          </a:xfrm>
          <a:prstGeom prst="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2286000"/>
            <a:ext cx="1234440" cy="347472"/>
          </a:xfrm>
          <a:prstGeom prst="round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2350008"/>
            <a:ext cx="108813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PR-AUC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61488"/>
            <a:ext cx="420624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200" b="1">
                <a:solidFill>
                  <a:srgbClr val="0D1F38"/>
                </a:solidFill>
                <a:latin typeface="Aptos"/>
              </a:defRPr>
            </a:pPr>
            <a:r>
              <a:t>¿Qué tan bien ordena el riesgo?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383280"/>
            <a:ext cx="425196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00" b="0">
                <a:solidFill>
                  <a:srgbClr val="53657A"/>
                </a:solidFill>
                <a:latin typeface="Aptos"/>
              </a:defRPr>
            </a:pPr>
            <a:r>
              <a:rPr sz="1320"/>
              <a:t>Churn es la clase minoritaria (26,5%). PR-AUC evalúa directamente el equilibrio precisión–recall para todos los umbrales y muestra si el modelo concentra churners arriba del ranking. Por eso es la métrica principal para comparar modelos.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709160"/>
            <a:ext cx="42062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300" b="1">
                <a:solidFill>
                  <a:srgbClr val="1D5BA6"/>
                </a:solidFill>
                <a:latin typeface="Aptos"/>
              </a:defRPr>
            </a:pPr>
            <a:r>
              <a:t>Uso: comparar modelos bajo la misma validación cruzada.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993392"/>
            <a:ext cx="5202936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993392"/>
            <a:ext cx="91440" cy="3429000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2286000"/>
            <a:ext cx="960120" cy="347472"/>
          </a:xfrm>
          <a:prstGeom prst="round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350008"/>
            <a:ext cx="81381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8"/>
            <a:ext cx="443484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200" b="1">
                <a:solidFill>
                  <a:srgbClr val="0D1F38"/>
                </a:solidFill>
                <a:latin typeface="Aptos"/>
              </a:defRPr>
            </a:pPr>
            <a:r>
              <a:t>¿Dónde conviene cortar el ranking?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4434840" cy="9601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00" b="0">
                <a:solidFill>
                  <a:srgbClr val="53657A"/>
                </a:solidFill>
                <a:latin typeface="Aptos"/>
              </a:defRPr>
            </a:pPr>
            <a:r>
              <a:rPr sz="1270"/>
              <a:t>En retención, un falso negativo es un cliente que se va sin recibir una acción; implica perder ingreso recurrente. Un falso positivo genera un contacto u oferta posiblemente innecesaria, normalmente menos costosa. Por eso priorizamos recall; F2 le da 4 veces más peso sin ignorar precisión.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709160"/>
            <a:ext cx="43891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300" b="1">
                <a:solidFill>
                  <a:srgbClr val="2C9165"/>
                </a:solidFill>
                <a:latin typeface="Aptos"/>
              </a:defRPr>
            </a:pPr>
            <a:r>
              <a:t>Uso: elegir el umbral operativo dentro de train.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05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Validación confiable: estratificación, CV y test cerrado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06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93392"/>
            <a:ext cx="3246120" cy="3502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93392"/>
            <a:ext cx="91440" cy="3502152"/>
          </a:xfrm>
          <a:prstGeom prst="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" y="2286000"/>
            <a:ext cx="1234440" cy="347472"/>
          </a:xfrm>
          <a:prstGeom prst="round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50008"/>
            <a:ext cx="108813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PARTICIÓN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61488"/>
            <a:ext cx="26060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000" b="1">
                <a:solidFill>
                  <a:srgbClr val="0D1F38"/>
                </a:solidFill>
                <a:latin typeface="Aptos"/>
              </a:defRPr>
            </a:pPr>
            <a:r>
              <a:t>80% train  ·  20%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10128"/>
            <a:ext cx="2578608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00" b="0">
                <a:solidFill>
                  <a:srgbClr val="53657A"/>
                </a:solidFill>
                <a:latin typeface="Aptos"/>
              </a:defRPr>
            </a:pPr>
            <a:r>
              <a:t>Split estratificado: conserva aproximadamente 26,5% de churn en ambos conjuntos. Evita que una partición azarosa distorsione la comparación.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828032"/>
            <a:ext cx="26060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200" b="1">
                <a:solidFill>
                  <a:srgbClr val="1D5BA6"/>
                </a:solidFill>
                <a:latin typeface="Aptos"/>
              </a:defRPr>
            </a:pPr>
            <a:r>
              <a:t>Seed 42 · test usado una sola vez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993392"/>
            <a:ext cx="3246120" cy="3502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5968" y="1993392"/>
            <a:ext cx="91440" cy="3502152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90288" y="2286000"/>
            <a:ext cx="1783080" cy="347472"/>
          </a:xfrm>
          <a:prstGeom prst="round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350008"/>
            <a:ext cx="163677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VALIDACIÓN CRUZADA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2761488"/>
            <a:ext cx="260604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000" b="1">
                <a:solidFill>
                  <a:srgbClr val="0D1F38"/>
                </a:solidFill>
                <a:latin typeface="Aptos"/>
              </a:defRPr>
            </a:pPr>
            <a:r>
              <a:rPr sz="2000"/>
              <a:t>5 folds dentro de train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310128"/>
            <a:ext cx="2578608" cy="1417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00" b="0">
                <a:solidFill>
                  <a:srgbClr val="53657A"/>
                </a:solidFill>
                <a:latin typeface="Aptos"/>
              </a:defRPr>
            </a:pPr>
            <a:r>
              <a:rPr sz="1400"/>
              <a:t>Cada combinación entrena en 4 folds y valida en el restante; el proceso rota cinco veces. Se promedian los resultados para comparar modelos e hiperparámetros con menor dependencia de un único corte.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0288" y="4828032"/>
            <a:ext cx="26060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200" b="1">
                <a:solidFill>
                  <a:srgbClr val="2C9165"/>
                </a:solidFill>
                <a:latin typeface="Aptos"/>
              </a:defRPr>
            </a:pPr>
            <a:r>
              <a:t>Misma métrica: PR-AUC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0688" y="1993392"/>
            <a:ext cx="3557016" cy="35021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90688" y="1993392"/>
            <a:ext cx="91440" cy="3502152"/>
          </a:xfrm>
          <a:prstGeom prst="rect">
            <a:avLst/>
          </a:prstGeom>
          <a:solidFill>
            <a:srgbClr val="E6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65008" y="2286000"/>
            <a:ext cx="1417320" cy="347472"/>
          </a:xfrm>
          <a:prstGeom prst="roundRect">
            <a:avLst/>
          </a:prstGeom>
          <a:solidFill>
            <a:srgbClr val="E6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350008"/>
            <a:ext cx="127101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SIN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65008" y="2761488"/>
            <a:ext cx="28346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000" b="1">
                <a:solidFill>
                  <a:srgbClr val="0D1F38"/>
                </a:solidFill>
                <a:latin typeface="Aptos"/>
              </a:defRPr>
            </a:pPr>
            <a:r>
              <a:t>El test no informa decisiones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5008" y="3401568"/>
            <a:ext cx="2816352" cy="12344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00" b="0">
                <a:solidFill>
                  <a:srgbClr val="53657A"/>
                </a:solidFill>
                <a:latin typeface="Aptos"/>
              </a:defRPr>
            </a:pPr>
            <a:r>
              <a:t>Imputación, escalado y one-hot se ajustan dentro de cada fold. customerID queda excluido y el umbral F2 se elige con validación interna, nunca mirando el test final.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4828032"/>
            <a:ext cx="283464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200" b="1">
                <a:solidFill>
                  <a:srgbClr val="E67E37"/>
                </a:solidFill>
                <a:latin typeface="Aptos"/>
              </a:defRPr>
            </a:pPr>
            <a:r>
              <a:t>0 clientes solapados train / test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06 ·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Regresión logística: baseline simple, fuerte e interpretable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07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93392"/>
            <a:ext cx="29718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1993392"/>
            <a:ext cx="91440" cy="3520440"/>
          </a:xfrm>
          <a:prstGeom prst="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15568" y="2286000"/>
            <a:ext cx="1508760" cy="347472"/>
          </a:xfrm>
          <a:prstGeom prst="round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350008"/>
            <a:ext cx="1362456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BASELINE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761488"/>
            <a:ext cx="2331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200" b="1">
                <a:solidFill>
                  <a:srgbClr val="0D1F38"/>
                </a:solidFill>
                <a:latin typeface="Aptos"/>
              </a:defRPr>
            </a:pPr>
            <a:r>
              <a:t>Regresión logística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456432"/>
            <a:ext cx="100584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3000" b="1">
                <a:solidFill>
                  <a:srgbClr val="1D5BA6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538728"/>
            <a:ext cx="1417320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200" b="0">
                <a:solidFill>
                  <a:srgbClr val="53657A"/>
                </a:solidFill>
                <a:latin typeface="Aptos"/>
              </a:defRPr>
            </a:pPr>
            <a:r>
              <a:t>variables predictoras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160520"/>
            <a:ext cx="2331720" cy="6858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00" b="0">
                <a:solidFill>
                  <a:srgbClr val="53657A"/>
                </a:solidFill>
                <a:latin typeface="Aptos"/>
              </a:defRPr>
            </a:pPr>
            <a:r>
              <a:t>19 originales + 16 derivadas; tras one-hot se expanden a 65 columnas.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4937760"/>
            <a:ext cx="2331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200" b="1">
                <a:solidFill>
                  <a:srgbClr val="1D5BA6"/>
                </a:solidFill>
                <a:latin typeface="Aptos"/>
              </a:defRPr>
            </a:pPr>
            <a:r>
              <a:t>Regularización L2 · C = 3,0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1993392"/>
            <a:ext cx="384048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87368" y="1993392"/>
            <a:ext cx="91440" cy="3520440"/>
          </a:xfrm>
          <a:prstGeom prst="rect">
            <a:avLst/>
          </a:prstGeom>
          <a:solidFill>
            <a:srgbClr val="169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304288"/>
            <a:ext cx="315468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169193"/>
                </a:solidFill>
                <a:latin typeface="Aptos"/>
              </a:defRPr>
            </a:pPr>
            <a:r>
              <a:rPr sz="1000"/>
              <a:t>POR QUÉ SE ELIGE COMO 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61488"/>
            <a:ext cx="3063240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8263A"/>
                </a:solidFill>
                <a:latin typeface="Aptos"/>
              </a:defRPr>
            </a:pPr>
            <a:r>
              <a:rPr sz="1150"/>
              <a:t>—  Es el estándar simple para clasificación binaria y entrega probabilidades de churn.
—  Es rápida, reproducible e interpretable: sus coeficientes muestran dirección y peso.
—  La regularización L2 penaliza coeficientes grandes y reduce el riesgo de sobreajuste.
—  Usa el mismo pipeline, variables y folds: la comparación es justa.
—  Supera al Dummy y alcanza PR-AUC CV = 0,660.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02168" y="1993392"/>
            <a:ext cx="3145536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02168" y="1993392"/>
            <a:ext cx="91440" cy="3520440"/>
          </a:xfrm>
          <a:prstGeom prst="rect">
            <a:avLst/>
          </a:prstGeom>
          <a:solidFill>
            <a:srgbClr val="C54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76488" y="2286000"/>
            <a:ext cx="868680" cy="347472"/>
          </a:xfrm>
          <a:prstGeom prst="roundRect">
            <a:avLst/>
          </a:prstGeom>
          <a:solidFill>
            <a:srgbClr val="C54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2350008"/>
            <a:ext cx="722375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PISO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2788920"/>
            <a:ext cx="219456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100" b="1">
                <a:solidFill>
                  <a:srgbClr val="0D1F38"/>
                </a:solidFill>
                <a:latin typeface="Aptos"/>
              </a:defRPr>
            </a:pPr>
            <a:r>
              <a:t>Dummy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6488" y="3401568"/>
            <a:ext cx="228600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000" b="1">
                <a:solidFill>
                  <a:srgbClr val="C54952"/>
                </a:solidFill>
                <a:latin typeface="Aptos"/>
              </a:defRPr>
            </a:pPr>
            <a:r>
              <a:t>PR-AUC 0,265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4096512"/>
            <a:ext cx="233172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400" b="0">
                <a:solidFill>
                  <a:srgbClr val="53657A"/>
                </a:solidFill>
                <a:latin typeface="Aptos"/>
              </a:defRPr>
            </a:pPr>
            <a:r>
              <a:t>Solo representa la prevalencia. Sirve para comprobar que el baseline aprende señal real.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07 · SELECCIÓN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10 modelos comparados por
PR-AUC en validación cruzada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08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331720"/>
            <a:ext cx="36576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E86243"/>
                </a:solidFill>
                <a:latin typeface="Segoe UI Semibold"/>
              </a:rPr>
              <a:t>—  Los modelos lineales y de boosting concentran el mejor desempeño.
—  Las diferencias superiores son pequeñas: importa validar estabilidad, no solo el ranking puntual.
—  Los métodos más complejos no garantizan una mejora material.
—  La elección debe equilibrar desempeño, interpretabilidad, costo y mantenimiento.</a:t>
            </a:r>
          </a:p>
        </p:txBody>
      </p:sp>
      <p:pic>
        <p:nvPicPr>
          <p:cNvPr id="10" name="Picture 9" descr="modelos_sin_no_sk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221992"/>
            <a:ext cx="6949440" cy="3785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08 · MODELO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CatBoost — hiperparámetros y desempeño en test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09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48840"/>
            <a:ext cx="1280160" cy="596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6243"/>
                </a:solidFill>
                <a:latin typeface="Segoe UI Light"/>
              </a:rPr>
              <a:t>0,664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64009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120">
                <a:solidFill>
                  <a:srgbClr val="6A7385"/>
                </a:solidFill>
                <a:latin typeface="Segoe UI Semibold"/>
              </a:rPr>
              <a:t>PR-AUC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914413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A7385"/>
                </a:solidFill>
                <a:latin typeface="Segoe UI"/>
              </a:rPr>
              <a:t>ranking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2194560"/>
            <a:ext cx="0" cy="914400"/>
          </a:xfrm>
          <a:prstGeom prst="bentConnector3">
            <a:avLst/>
          </a:prstGeom>
          <a:ln w="1651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50008" y="2148840"/>
            <a:ext cx="1280160" cy="596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A9D8F"/>
                </a:solidFill>
                <a:latin typeface="Segoe UI Light"/>
              </a:rPr>
              <a:t>90,9%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264009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120">
                <a:solidFill>
                  <a:srgbClr val="6A7385"/>
                </a:solidFill>
                <a:latin typeface="Segoe UI Semibold"/>
              </a:rPr>
              <a:t>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914413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A7385"/>
                </a:solidFill>
                <a:latin typeface="Segoe UI"/>
              </a:rPr>
              <a:t>churn detect.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49040" y="2194560"/>
            <a:ext cx="0" cy="914400"/>
          </a:xfrm>
          <a:prstGeom prst="bentConnector3">
            <a:avLst/>
          </a:prstGeom>
          <a:ln w="1651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813048" y="2148840"/>
            <a:ext cx="1280160" cy="596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53B"/>
                </a:solidFill>
                <a:latin typeface="Segoe UI Light"/>
              </a:rPr>
              <a:t>42,4%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264009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120">
                <a:solidFill>
                  <a:srgbClr val="6A7385"/>
                </a:solidFill>
                <a:latin typeface="Segoe UI Semibold"/>
              </a:rPr>
              <a:t>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2914413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A7385"/>
                </a:solidFill>
                <a:latin typeface="Segoe UI"/>
              </a:rPr>
              <a:t>contactos útiles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12080" y="2194560"/>
            <a:ext cx="0" cy="914400"/>
          </a:xfrm>
          <a:prstGeom prst="bentConnector3">
            <a:avLst/>
          </a:prstGeom>
          <a:ln w="1651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276088" y="2148840"/>
            <a:ext cx="1280160" cy="5963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E6BE6"/>
                </a:solidFill>
                <a:latin typeface="Segoe UI Light"/>
              </a:rPr>
              <a:t>0,740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640093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120">
                <a:solidFill>
                  <a:srgbClr val="6A7385"/>
                </a:solidFill>
                <a:latin typeface="Segoe UI Semibold"/>
              </a:rPr>
              <a:t>F2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914413"/>
            <a:ext cx="1280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A7385"/>
                </a:solidFill>
                <a:latin typeface="Segoe UI"/>
              </a:rPr>
              <a:t>umbral 0,31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5661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253B"/>
                </a:solidFill>
                <a:latin typeface="Segoe UI Semibold"/>
              </a:rPr>
              <a:t>Hiperparámetros (GridSearch)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3977639"/>
            <a:ext cx="246888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7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40782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53B"/>
                </a:solidFill>
                <a:latin typeface="Segoe UI"/>
              </a:rPr>
              <a:t>depth =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93008" y="3977639"/>
            <a:ext cx="246888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7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4078224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53B"/>
                </a:solidFill>
                <a:latin typeface="Segoe UI"/>
              </a:rPr>
              <a:t>iterations = 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4544568"/>
            <a:ext cx="246888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7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" y="46451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53B"/>
                </a:solidFill>
                <a:latin typeface="Segoe UI"/>
              </a:rPr>
              <a:t>learning_rate = 0.05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4544568"/>
            <a:ext cx="2468880" cy="4572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E7E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4176" y="4645152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B253B"/>
                </a:solidFill>
                <a:latin typeface="Segoe UI"/>
              </a:rPr>
              <a:t>l2_leaf_reg =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212080"/>
            <a:ext cx="576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A7385"/>
                </a:solidFill>
                <a:latin typeface="Segoe UI"/>
              </a:rPr>
              <a:t>Brecha train-test baja (+0,02 en F2) y sin leakage:
ID excluido, 0 solapamiento train/test, umbral fuera del test.</a:t>
            </a:r>
          </a:p>
        </p:txBody>
      </p:sp>
      <p:pic>
        <p:nvPicPr>
          <p:cNvPr id="33" name="Picture 32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0334" y="2194560"/>
            <a:ext cx="4264531" cy="36118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6968" y="1746504"/>
            <a:ext cx="5806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26580"/>
                </a:solidFill>
                <a:latin typeface="Aptos"/>
              </a:rPr>
              <a:t>Boosting de árboles: cada árbol corrige errores de los anteriores y el conjunto estima la probabilidad de churn.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08 · MODELO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El umbral 0,31 prioriza detectar a los que se van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10 / 15</a:t>
            </a:r>
          </a:p>
        </p:txBody>
      </p:sp>
      <p:pic>
        <p:nvPicPr>
          <p:cNvPr id="8" name="Picture 7" descr="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641" y="2103120"/>
            <a:ext cx="6010557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2331720"/>
            <a:ext cx="34747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253B"/>
                </a:solidFill>
                <a:latin typeface="Segoe UI"/>
              </a:rPr>
              <a:t>Con umbral 0,31 se captura el 91% de los churners (recall alto).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253B"/>
                </a:solidFill>
                <a:latin typeface="Segoe UI"/>
              </a:rPr>
              <a:t>El costo son más falsos positivos: la precisión baja a ~42%.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253B"/>
                </a:solidFill>
                <a:latin typeface="Segoe UI"/>
              </a:rPr>
              <a:t>Es una decisión de negocio: mejor sobre-contactar que perder a un cliente.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700">
                <a:solidFill>
                  <a:srgbClr val="1B253B"/>
                </a:solidFill>
                <a:latin typeface="Segoe UI"/>
              </a:rPr>
              <a:t>En producción el corte debería fijarse por costo real y capacidad del equipo.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09 · INTERPRETACIÓN (SHAP)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SHAP confirma el EDA y agrega una lectura multivariable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A7385"/>
                </a:solidFill>
                <a:latin typeface="Segoe UI"/>
              </a:rPr>
              <a:t>Matías Goldschmidt   ·   11 / 15</a:t>
            </a:r>
          </a:p>
        </p:txBody>
      </p:sp>
      <p:pic>
        <p:nvPicPr>
          <p:cNvPr id="8" name="Picture 7" descr="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5410"/>
            <a:ext cx="7132320" cy="37387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0" y="2331720"/>
            <a:ext cx="35661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E86243"/>
                </a:solidFill>
                <a:latin typeface="Segoe UI Semibold"/>
              </a:rPr>
              <a:t>—  SHAP global muestra cuánto aporta cada variable a las predicciones del modelo.
—  Coincide con el EDA: contrato mensual, baja antigüedad, fibra y falta de soporte/seguridad vuelven a dominar.
—  El modelo agrega matices: cargos acumulados y combinaciones entre variables ganan relevancia al analizarlas juntas.
—  Coincidencia no implica causalidad; SHAP explica predicciones, no el motivo real de la baja.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0392" cy="69494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645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100" b="1">
                <a:solidFill>
                  <a:srgbClr val="1D5BA6"/>
                </a:solidFill>
                <a:latin typeface="Aptos"/>
              </a:defRPr>
            </a:pPr>
            <a:r>
              <a:t>09 · LECTURA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6456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2800" b="1">
                <a:solidFill>
                  <a:srgbClr val="0D1F38"/>
                </a:solidFill>
                <a:latin typeface="Aptos"/>
              </a:defRPr>
            </a:pPr>
            <a:r>
              <a:t>El modelo prioriza; negocio personaliza la intervención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6382512"/>
            <a:ext cx="10506456" cy="13716"/>
          </a:xfrm>
          <a:prstGeom prst="rect">
            <a:avLst/>
          </a:prstGeom>
          <a:solidFill>
            <a:srgbClr val="D8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0">
                <a:solidFill>
                  <a:srgbClr val="53657A"/>
                </a:solidFill>
                <a:latin typeface="Aptos"/>
              </a:defRPr>
            </a:pPr>
            <a: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1304" y="6455664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defRPr sz="900" b="0">
                <a:solidFill>
                  <a:srgbClr val="53657A"/>
                </a:solidFill>
                <a:latin typeface="Aptos"/>
              </a:defRPr>
            </a:pPr>
            <a:r>
              <a:rPr sz="900"/>
              <a:t>Matías Goldschmidt   ·   12 / 15</a:t>
            </a:r>
          </a:p>
        </p:txBody>
      </p:sp>
      <p:pic>
        <p:nvPicPr>
          <p:cNvPr id="8" name="Picture 7" descr="negocio_churn_contra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38528"/>
            <a:ext cx="502920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79008" y="1993392"/>
            <a:ext cx="52578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1D5BA6"/>
                </a:solidFill>
                <a:latin typeface="Aptos"/>
              </a:defRPr>
            </a:pPr>
            <a:r>
              <a:t>DEL SCORE A UNA ACCIÓN CONCRETA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79008" y="2395728"/>
            <a:ext cx="54132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79008" y="2395728"/>
            <a:ext cx="91440" cy="841248"/>
          </a:xfrm>
          <a:prstGeom prst="rect">
            <a:avLst/>
          </a:prstGeom>
          <a:solidFill>
            <a:srgbClr val="E6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578608"/>
            <a:ext cx="11430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E67E37"/>
                </a:solidFill>
                <a:latin typeface="Aptos"/>
              </a:defRPr>
            </a:pPr>
            <a:r>
              <a:t>RIESGO ALTO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2542032"/>
            <a:ext cx="16916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00" b="1">
                <a:solidFill>
                  <a:srgbClr val="0D1F38"/>
                </a:solidFill>
                <a:latin typeface="Aptos"/>
              </a:defRPr>
            </a:pPr>
            <a:r>
              <a:t>Atención prioritaria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2560320"/>
            <a:ext cx="190195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Aptos"/>
              </a:defRPr>
            </a:pPr>
            <a:r>
              <a:t>Score + valor del cliente definen el orden de contacto.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79008" y="3401568"/>
            <a:ext cx="541324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79008" y="3401568"/>
            <a:ext cx="91440" cy="932688"/>
          </a:xfrm>
          <a:prstGeom prst="rect">
            <a:avLst/>
          </a:prstGeom>
          <a:solidFill>
            <a:srgbClr val="1691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3602736"/>
            <a:ext cx="11430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169193"/>
                </a:solidFill>
                <a:latin typeface="Aptos"/>
              </a:defRPr>
            </a:pPr>
            <a:r>
              <a:t>MOTIVO SHAP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3566160"/>
            <a:ext cx="16916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00" b="1">
                <a:solidFill>
                  <a:srgbClr val="0D1F38"/>
                </a:solidFill>
                <a:latin typeface="Aptos"/>
              </a:defRPr>
            </a:pPr>
            <a:r>
              <a:t>Ejemplos de acción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3493008"/>
            <a:ext cx="1965960" cy="7132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60" b="0">
                <a:solidFill>
                  <a:srgbClr val="53657A"/>
                </a:solidFill>
                <a:latin typeface="Aptos"/>
              </a:defRPr>
            </a:pPr>
            <a:r>
              <a:t>Contrato mensual / poca antigüedad → onboarding y oferta anual.</a:t>
            </a:r>
            <a:br/>
            <a:r>
              <a:t>Sin soporte o seguridad → bundle asistido. Fibra + cargos altos → revisión de servicio.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8" y="4498848"/>
            <a:ext cx="541324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79008" y="4498848"/>
            <a:ext cx="91440" cy="841248"/>
          </a:xfrm>
          <a:prstGeom prst="rect">
            <a:avLst/>
          </a:prstGeom>
          <a:solidFill>
            <a:srgbClr val="1D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4690872"/>
            <a:ext cx="114300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1D5BA6"/>
                </a:solidFill>
                <a:latin typeface="Aptos"/>
              </a:defRPr>
            </a:pPr>
            <a:r>
              <a:t>RIESGO BAJO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4654296"/>
            <a:ext cx="16916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500" b="1">
                <a:solidFill>
                  <a:srgbClr val="0D1F38"/>
                </a:solidFill>
                <a:latin typeface="Aptos"/>
              </a:defRPr>
            </a:pPr>
            <a:r>
              <a:t>No sobreincentivar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4626864"/>
            <a:ext cx="1938528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19" b="0">
                <a:solidFill>
                  <a:srgbClr val="53657A"/>
                </a:solidFill>
                <a:latin typeface="Aptos"/>
              </a:defRPr>
            </a:pPr>
            <a:r>
              <a:t>Monitorear y reservar descuentos para clientes con riesgo y valor suficientes.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79008" y="5504688"/>
            <a:ext cx="541324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79008" y="5504688"/>
            <a:ext cx="91440" cy="566928"/>
          </a:xfrm>
          <a:prstGeom prst="rect">
            <a:avLst/>
          </a:prstGeom>
          <a:solidFill>
            <a:srgbClr val="2C9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5678424"/>
            <a:ext cx="64008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900" b="1">
                <a:solidFill>
                  <a:srgbClr val="2C9165"/>
                </a:solidFill>
                <a:latin typeface="Aptos"/>
              </a:defRPr>
            </a:pPr>
            <a:r>
              <a:t>MEDIR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5632704"/>
            <a:ext cx="40233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defRPr sz="1050" b="0">
                <a:solidFill>
                  <a:srgbClr val="0D1F38"/>
                </a:solidFill>
                <a:latin typeface="Aptos"/>
              </a:defRPr>
            </a:pPr>
            <a:r>
              <a:t>Grupo de control · churn evitado · costo por retención · margen incremental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75488"/>
            <a:ext cx="105091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spc="160">
                <a:solidFill>
                  <a:srgbClr val="E86243"/>
                </a:solidFill>
                <a:latin typeface="Segoe UI Semibold"/>
              </a:rPr>
              <a:t>10 · LIMITACIONES Y MEJORAS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050919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1B253B"/>
                </a:solidFill>
                <a:latin typeface="Segoe UI Semibold"/>
              </a:rPr>
              <a:t>Qué falta para llevarlo a
una decisión productiva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41248" y="6382512"/>
            <a:ext cx="10509199" cy="0"/>
          </a:xfrm>
          <a:prstGeom prst="bentConnector3">
            <a:avLst/>
          </a:prstGeom>
          <a:ln w="1397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41248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Predicción de churn · Telco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4047" y="6455664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A7385"/>
                </a:solidFill>
                <a:latin typeface="Segoe UI"/>
              </a:rPr>
              <a:t>Matías Goldschmidt   ·   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03120"/>
            <a:ext cx="4980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6243"/>
                </a:solidFill>
                <a:latin typeface="Segoe UI Semibold"/>
              </a:rPr>
              <a:t>Limitaciones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606040"/>
            <a:ext cx="498027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800">
                <a:solidFill>
                  <a:srgbClr val="1B253B"/>
                </a:solidFill>
                <a:latin typeface="Segoe UI"/>
              </a:rPr>
              <a:t>Dataset sin dimensión temporal: no simula pasado → futuro.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800">
                <a:solidFill>
                  <a:srgbClr val="1B253B"/>
                </a:solidFill>
                <a:latin typeface="Segoe UI"/>
              </a:rPr>
              <a:t>No hay costos reales de contacto, oferta ni valor del cliente.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800">
                <a:solidFill>
                  <a:srgbClr val="1B253B"/>
                </a:solidFill>
                <a:latin typeface="Segoe UI"/>
              </a:rPr>
              <a:t>Precisión moderada: muchos contactos no terminarían en churn.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800">
                <a:solidFill>
                  <a:srgbClr val="1B253B"/>
                </a:solidFill>
                <a:latin typeface="Segoe UI"/>
              </a:rPr>
              <a:t>Variables derivadas algo redundantes con las originales.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2103120"/>
            <a:ext cx="4980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A9D8F"/>
                </a:solidFill>
                <a:latin typeface="Segoe UI Semibold"/>
              </a:rPr>
              <a:t>Mejoras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2606040"/>
            <a:ext cx="498027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2A9D8F"/>
                </a:solidFill>
                <a:latin typeface="Segoe UI Semibold"/>
              </a:rPr>
              <a:t>—  </a:t>
            </a:r>
            <a:r>
              <a:rPr sz="1800">
                <a:solidFill>
                  <a:srgbClr val="1B253B"/>
                </a:solidFill>
                <a:latin typeface="Segoe UI"/>
              </a:rPr>
              <a:t>Validar con meses futuros y monitorear drift.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2A9D8F"/>
                </a:solidFill>
                <a:latin typeface="Segoe UI Semibold"/>
              </a:rPr>
              <a:t>—  </a:t>
            </a:r>
            <a:r>
              <a:rPr sz="1800">
                <a:solidFill>
                  <a:srgbClr val="1B253B"/>
                </a:solidFill>
                <a:latin typeface="Segoe UI"/>
              </a:rPr>
              <a:t>Elegir umbral por valor esperado (prob × valor × costo).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2A9D8F"/>
                </a:solidFill>
                <a:latin typeface="Segoe UI Semibold"/>
              </a:rPr>
              <a:t>—  </a:t>
            </a:r>
            <a:r>
              <a:rPr sz="1800">
                <a:solidFill>
                  <a:srgbClr val="1B253B"/>
                </a:solidFill>
                <a:latin typeface="Segoe UI"/>
              </a:rPr>
              <a:t>Sumar tickets, NPS, uso del servicio y promociones.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800" b="1">
                <a:solidFill>
                  <a:srgbClr val="2A9D8F"/>
                </a:solidFill>
                <a:latin typeface="Segoe UI Semibold"/>
              </a:rPr>
              <a:t>—  </a:t>
            </a:r>
            <a:r>
              <a:rPr sz="1800">
                <a:solidFill>
                  <a:srgbClr val="1B253B"/>
                </a:solidFill>
                <a:latin typeface="Segoe UI"/>
              </a:rPr>
              <a:t>Calibrar probabilidades para usar el score como ranking.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2148840"/>
            <a:ext cx="0" cy="3200400"/>
          </a:xfrm>
          <a:prstGeom prst="bentConnector3">
            <a:avLst/>
          </a:prstGeom>
          <a:ln w="16510">
            <a:solidFill>
              <a:srgbClr val="E7E3D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45720" y="-45720"/>
            <a:ext cx="12283135" cy="6949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114800"/>
            <a:ext cx="4206240" cy="4206240"/>
          </a:xfrm>
          <a:prstGeom prst="ellipse">
            <a:avLst/>
          </a:prstGeom>
          <a:solidFill>
            <a:srgbClr val="22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5029200"/>
            <a:ext cx="2377440" cy="2377440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200">
                <a:solidFill>
                  <a:srgbClr val="E86243"/>
                </a:solidFill>
                <a:latin typeface="Segoe UI Semibold"/>
              </a:rPr>
              <a:t>11 · CONCLUSIÓN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3444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Segoe UI Semibold"/>
              </a:rPr>
              <a:t>Un ranking accionable para
priorizar la retención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7863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9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900">
                <a:solidFill>
                  <a:srgbClr val="E8ECF4"/>
                </a:solidFill>
                <a:latin typeface="Segoe UI"/>
              </a:rPr>
              <a:t>Transformamos el problema de negocio en un modelo reproducible.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9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900">
                <a:solidFill>
                  <a:srgbClr val="E8ECF4"/>
                </a:solidFill>
                <a:latin typeface="Segoe UI"/>
              </a:rPr>
              <a:t>CatBoost ordena a los clientes activos por riesgo de baja.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9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900">
                <a:solidFill>
                  <a:srgbClr val="E8ECF4"/>
                </a:solidFill>
                <a:latin typeface="Segoe UI"/>
              </a:rPr>
              <a:t>Perfil de alto riesgo: contrato mensual, poca antigüedad, fibra, pocos servicios.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900" b="1">
                <a:solidFill>
                  <a:srgbClr val="E86243"/>
                </a:solidFill>
                <a:latin typeface="Segoe UI Semibold"/>
              </a:rPr>
              <a:t>—  </a:t>
            </a:r>
            <a:r>
              <a:rPr sz="1900">
                <a:solidFill>
                  <a:srgbClr val="E8ECF4"/>
                </a:solidFill>
                <a:latin typeface="Segoe UI"/>
              </a:rPr>
              <a:t>Acción: contactar primero a los de mayor score con permanencia, soporte o beneficios.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96528" y="310896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 Light"/>
              </a:rPr>
              <a:t>CatBoost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35844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AFBCD4"/>
                </a:solidFill>
                <a:latin typeface="Segoe UI Semibold"/>
              </a:rPr>
              <a:t>MEJOR PR-AUC</a:t>
            </a:r>
            <a:r>
              <a:rPr sz="1100" b="0" spc="100">
                <a:solidFill>
                  <a:srgbClr val="AFBCD4"/>
                </a:solidFill>
                <a:latin typeface="Segoe U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96528" y="3977639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6243"/>
                </a:solidFill>
                <a:latin typeface="Segoe UI Light"/>
              </a:rPr>
              <a:t>0,664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96528" y="4453127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AFBCD4"/>
                </a:solidFill>
                <a:latin typeface="Segoe UI Semibold"/>
              </a:rPr>
              <a:t>PR-AUC TEST</a:t>
            </a:r>
            <a:r>
              <a:rPr sz="1100" b="0" spc="100">
                <a:solidFill>
                  <a:srgbClr val="AFBCD4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96528" y="484632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Segoe UI Light"/>
              </a:rPr>
              <a:t>90,9%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532180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00">
                <a:solidFill>
                  <a:srgbClr val="AFBCD4"/>
                </a:solidFill>
                <a:latin typeface="Segoe UI Semibold"/>
              </a:rPr>
              <a:t>RECALL</a:t>
            </a:r>
            <a:r>
              <a:rPr sz="1100" b="0" spc="100">
                <a:solidFill>
                  <a:srgbClr val="AFBCD4"/>
                </a:solidFill>
                <a:latin typeface="Segoe U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FBCD4"/>
                </a:solidFill>
                <a:latin typeface="Segoe UI"/>
              </a:rPr>
              <a:t>Antes de producción: definir costo de acción, capacidad y umbral por rentabilidad esperada.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